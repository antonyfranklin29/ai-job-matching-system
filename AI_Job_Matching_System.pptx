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my AI-Powered Job Matching project — a real workflow I built using Claude AI and Apify to automate and personalize the job search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my own job search, I experienced all three pain points firsthand. This project was born out of necessity — I needed a smarter way to discover and filter relevant opportunities without spending hours each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challenges compound each other. Without automation, a job seeker must manually visit each platform, run separate searches, and sift through noise — all before even evaluating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automates the entire discovery process. The user only needs to provide their resume once; Claude AI handles matching logic and Apify handles scraping — together producing highly relevant job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straightforward: the user's resume feeds into Claude AI, which formulates intelligent scraping queries for Apify. Apify retrieves real job data from multiple platforms, and Claude then scores and ranks results by relevance to the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stack is intentionally minimal and API-driven. Claude AI handles intelligence; Apify handles data collection. No custom backend or database was needed — the entire workflow runs through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was iterative. Starting from exploring available tools to a fully automated workflow took about a week of exploration and refinement. Prompt engineering was the most time-intensive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features combine to create a genuinely useful tool. The most impactful is the resume-based AI matching — instead of keyword matching, Claude understands context and relevance in a way traditional search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quantitative impact was clear from day one: search time dropped dramatically and the quality of leads improved substantially. The system also revealed job openings I would never have found through manual searching.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version is a proof of concept. The roadmap shows how this can evolve into a comprehensive job search assistant — from discovery all the way through application submission and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this project is a practical demonstration of AI-powered automation in a real personal use case. It shows that even without coding a custom backend, meaningful AI workflows can be built using the right combination of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Possible discussion points: how the prompt was engineered, how Apify handles rate limiting, whether this can be turned into a SaaS product, and what the biggest technical challenge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sp>
      <p:sp>
        <p:nvSpPr>
          <p:cNvPr id="3" name="Shape 1"/>
          <p:cNvSpPr/>
          <p:nvPr/>
        </p:nvSpPr>
        <p:spPr>
          <a:xfrm>
            <a:off x="0" y="0"/>
            <a:ext cx="45720" cy="5143500"/>
          </a:xfrm>
          <a:prstGeom prst="rect">
            <a:avLst/>
          </a:prstGeom>
          <a:solidFill>
            <a:srgbClr val="58A6FF"/>
          </a:solidFill>
          <a:ln w="12700">
            <a:solidFill>
              <a:srgbClr val="58A6FF"/>
            </a:solidFill>
            <a:prstDash val="solid"/>
          </a:ln>
        </p:spPr>
      </p:sp>
      <p:sp>
        <p:nvSpPr>
          <p:cNvPr id="4" name="Shape 2"/>
          <p:cNvSpPr/>
          <p:nvPr/>
        </p:nvSpPr>
        <p:spPr>
          <a:xfrm>
            <a:off x="5029200" y="-914400"/>
            <a:ext cx="5029200" cy="5029200"/>
          </a:xfrm>
          <a:prstGeom prst="ellipse">
            <a:avLst/>
          </a:prstGeom>
          <a:solidFill>
            <a:srgbClr val="58A6FF">
              <a:alpha val="8000"/>
            </a:srgbClr>
          </a:solidFill>
          <a:ln w="12700">
            <a:solidFill>
              <a:srgbClr val="58A6FF">
                <a:alpha val="15000"/>
              </a:srgbClr>
            </a:solidFill>
            <a:prstDash val="solid"/>
          </a:ln>
        </p:spPr>
      </p:sp>
      <p:sp>
        <p:nvSpPr>
          <p:cNvPr id="5" name="Shape 3"/>
          <p:cNvSpPr/>
          <p:nvPr/>
        </p:nvSpPr>
        <p:spPr>
          <a:xfrm>
            <a:off x="5486400" y="-457200"/>
            <a:ext cx="4114800" cy="4114800"/>
          </a:xfrm>
          <a:prstGeom prst="ellipse">
            <a:avLst/>
          </a:prstGeom>
          <a:solidFill>
            <a:srgbClr val="D2A8FF">
              <a:alpha val="7000"/>
            </a:srgbClr>
          </a:solidFill>
          <a:ln w="12700">
            <a:solidFill>
              <a:srgbClr val="D2A8FF">
                <a:alpha val="13000"/>
              </a:srgbClr>
            </a:solidFill>
            <a:prstDash val="solid"/>
          </a:ln>
        </p:spPr>
      </p:sp>
      <p:sp>
        <p:nvSpPr>
          <p:cNvPr id="6" name="Shape 4"/>
          <p:cNvSpPr/>
          <p:nvPr/>
        </p:nvSpPr>
        <p:spPr>
          <a:xfrm>
            <a:off x="457200" y="731520"/>
            <a:ext cx="2377440" cy="292608"/>
          </a:xfrm>
          <a:prstGeom prst="rect">
            <a:avLst>
              <a:gd name="adj" fmla="val 15625"/>
            </a:avLst>
          </a:prstGeom>
          <a:solidFill>
            <a:srgbClr val="58A6FF">
              <a:alpha val="20000"/>
            </a:srgbClr>
          </a:solidFill>
          <a:ln w="12700">
            <a:solidFill>
              <a:srgbClr val="58A6FF"/>
            </a:solidFill>
            <a:prstDash val="solid"/>
          </a:ln>
        </p:spPr>
      </p:sp>
      <p:sp>
        <p:nvSpPr>
          <p:cNvPr id="7" name="Text 5"/>
          <p:cNvSpPr/>
          <p:nvPr/>
        </p:nvSpPr>
        <p:spPr>
          <a:xfrm>
            <a:off x="457200" y="731520"/>
            <a:ext cx="2377440" cy="292608"/>
          </a:xfrm>
          <a:prstGeom prst="rect">
            <a:avLst/>
          </a:prstGeom>
          <a:noFill/>
          <a:ln/>
        </p:spPr>
        <p:txBody>
          <a:bodyPr wrap="square" lIns="0" tIns="0" rIns="0" bIns="0" rtlCol="0" anchor="ctr"/>
          <a:lstStyle/>
          <a:p>
            <a:pPr algn="ctr" indent="0" marL="0">
              <a:buNone/>
            </a:pPr>
            <a:r>
              <a:rPr lang="en-US" sz="900" b="1" dirty="0">
                <a:solidFill>
                  <a:srgbClr val="58A6FF"/>
                </a:solidFill>
              </a:rPr>
              <a:t>TECHNICAL PROJECT</a:t>
            </a:r>
            <a:endParaRPr lang="en-US" sz="900" dirty="0"/>
          </a:p>
        </p:txBody>
      </p:sp>
      <p:sp>
        <p:nvSpPr>
          <p:cNvPr id="8" name="Text 6"/>
          <p:cNvSpPr/>
          <p:nvPr/>
        </p:nvSpPr>
        <p:spPr>
          <a:xfrm>
            <a:off x="411480" y="1097280"/>
            <a:ext cx="6858000" cy="1828800"/>
          </a:xfrm>
          <a:prstGeom prst="rect">
            <a:avLst/>
          </a:prstGeom>
          <a:noFill/>
          <a:ln/>
        </p:spPr>
        <p:txBody>
          <a:bodyPr wrap="square" rtlCol="0" anchor="ctr"/>
          <a:lstStyle/>
          <a:p>
            <a:pPr algn="l" indent="0" marL="0">
              <a:lnSpc>
                <a:spcPct val="110000"/>
              </a:lnSpc>
              <a:buNone/>
            </a:pPr>
            <a:r>
              <a:rPr lang="en-US" sz="4000" b="1" dirty="0">
                <a:solidFill>
                  <a:srgbClr val="FFFFFF"/>
                </a:solidFill>
                <a:latin typeface="Calibri" pitchFamily="34" charset="0"/>
                <a:ea typeface="Calibri" pitchFamily="34" charset="-122"/>
                <a:cs typeface="Calibri" pitchFamily="34" charset="-120"/>
              </a:rPr>
              <a:t>AI-Powered</a:t>
            </a:r>
            <a:endParaRPr lang="en-US" sz="4000" dirty="0"/>
          </a:p>
          <a:p>
            <a:pPr algn="l" indent="0" marL="0">
              <a:lnSpc>
                <a:spcPct val="110000"/>
              </a:lnSpc>
              <a:buNone/>
            </a:pPr>
            <a:r>
              <a:rPr lang="en-US" sz="4000" b="1" dirty="0">
                <a:solidFill>
                  <a:srgbClr val="FFFFFF"/>
                </a:solidFill>
                <a:latin typeface="Calibri" pitchFamily="34" charset="0"/>
                <a:ea typeface="Calibri" pitchFamily="34" charset="-122"/>
                <a:cs typeface="Calibri" pitchFamily="34" charset="-120"/>
              </a:rPr>
              <a:t>Job Matching System</a:t>
            </a:r>
            <a:endParaRPr lang="en-US" sz="4000" dirty="0"/>
          </a:p>
        </p:txBody>
      </p:sp>
      <p:sp>
        <p:nvSpPr>
          <p:cNvPr id="9" name="Text 7"/>
          <p:cNvSpPr/>
          <p:nvPr/>
        </p:nvSpPr>
        <p:spPr>
          <a:xfrm>
            <a:off x="411480" y="2880360"/>
            <a:ext cx="6400800" cy="457200"/>
          </a:xfrm>
          <a:prstGeom prst="rect">
            <a:avLst/>
          </a:prstGeom>
          <a:noFill/>
          <a:ln/>
        </p:spPr>
        <p:txBody>
          <a:bodyPr wrap="square" rtlCol="0" anchor="ctr"/>
          <a:lstStyle/>
          <a:p>
            <a:pPr algn="l" indent="0" marL="0">
              <a:buNone/>
            </a:pPr>
            <a:r>
              <a:rPr lang="en-US" sz="2200" dirty="0">
                <a:solidFill>
                  <a:srgbClr val="58A6FF"/>
                </a:solidFill>
                <a:latin typeface="Calibri" pitchFamily="34" charset="0"/>
                <a:ea typeface="Calibri" pitchFamily="34" charset="-122"/>
                <a:cs typeface="Calibri" pitchFamily="34" charset="-120"/>
              </a:rPr>
              <a:t>Using Claude AI &amp; Apify</a:t>
            </a:r>
            <a:endParaRPr lang="en-US" sz="2200" dirty="0"/>
          </a:p>
        </p:txBody>
      </p:sp>
      <p:sp>
        <p:nvSpPr>
          <p:cNvPr id="10" name="Text 8"/>
          <p:cNvSpPr/>
          <p:nvPr/>
        </p:nvSpPr>
        <p:spPr>
          <a:xfrm>
            <a:off x="411480" y="3383280"/>
            <a:ext cx="6400800" cy="365760"/>
          </a:xfrm>
          <a:prstGeom prst="rect">
            <a:avLst/>
          </a:prstGeom>
          <a:noFill/>
          <a:ln/>
        </p:spPr>
        <p:txBody>
          <a:bodyPr wrap="square" rtlCol="0" anchor="ctr"/>
          <a:lstStyle/>
          <a:p>
            <a:pPr algn="l" indent="0" marL="0">
              <a:buNone/>
            </a:pPr>
            <a:r>
              <a:rPr lang="en-US" sz="1400" i="1" dirty="0">
                <a:solidFill>
                  <a:srgbClr val="8B949E"/>
                </a:solidFill>
                <a:latin typeface="Calibri" pitchFamily="34" charset="0"/>
                <a:ea typeface="Calibri" pitchFamily="34" charset="-122"/>
                <a:cs typeface="Calibri" pitchFamily="34" charset="-120"/>
              </a:rPr>
              <a:t>Automated. Intelligent. Relevant.</a:t>
            </a:r>
            <a:endParaRPr lang="en-US" sz="1400" dirty="0"/>
          </a:p>
        </p:txBody>
      </p:sp>
      <p:sp>
        <p:nvSpPr>
          <p:cNvPr id="11" name="Shape 9"/>
          <p:cNvSpPr/>
          <p:nvPr/>
        </p:nvSpPr>
        <p:spPr>
          <a:xfrm>
            <a:off x="0" y="4572000"/>
            <a:ext cx="9144000" cy="571500"/>
          </a:xfrm>
          <a:prstGeom prst="rect">
            <a:avLst/>
          </a:prstGeom>
          <a:solidFill>
            <a:srgbClr val="21262D"/>
          </a:solidFill>
          <a:ln w="12700">
            <a:solidFill>
              <a:srgbClr val="21262D"/>
            </a:solidFill>
            <a:prstDash val="solid"/>
          </a:ln>
        </p:spPr>
      </p:sp>
      <p:sp>
        <p:nvSpPr>
          <p:cNvPr id="12" name="Text 10"/>
          <p:cNvSpPr/>
          <p:nvPr/>
        </p:nvSpPr>
        <p:spPr>
          <a:xfrm>
            <a:off x="457200" y="4572000"/>
            <a:ext cx="8229600" cy="571500"/>
          </a:xfrm>
          <a:prstGeom prst="rect">
            <a:avLst/>
          </a:prstGeom>
          <a:noFill/>
          <a:ln/>
        </p:spPr>
        <p:txBody>
          <a:bodyPr wrap="square" rtlCol="0" anchor="ctr"/>
          <a:lstStyle/>
          <a:p>
            <a:pPr algn="ctr" indent="0" marL="0">
              <a:buNone/>
            </a:pPr>
            <a:r>
              <a:rPr lang="en-US" sz="1100" dirty="0">
                <a:solidFill>
                  <a:srgbClr val="8B949E"/>
                </a:solidFill>
              </a:rPr>
              <a:t>Claude AI  |  Apify  |  Prompt Engineering  |  JSON / API Integration</a:t>
            </a:r>
            <a:endParaRPr lang="en-US" sz="1100" dirty="0"/>
          </a:p>
        </p:txBody>
      </p:sp>
      <p:pic>
        <p:nvPicPr>
          <p:cNvPr id="13" name="Image 0" descr="preencoded.png">    </p:cNvPr>
          <p:cNvPicPr>
            <a:picLocks noChangeAspect="1"/>
          </p:cNvPicPr>
          <p:nvPr/>
        </p:nvPicPr>
        <p:blipFill>
          <a:blip r:embed="rId1"/>
          <a:stretch>
            <a:fillRect/>
          </a:stretch>
        </p:blipFill>
        <p:spPr>
          <a:xfrm>
            <a:off x="7132320" y="91440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A657"/>
          </a:solidFill>
          <a:ln w="12700">
            <a:solidFill>
              <a:srgbClr val="FFA657"/>
            </a:solidFill>
            <a:prstDash val="solid"/>
          </a:ln>
        </p:spPr>
      </p:sp>
      <p:sp>
        <p:nvSpPr>
          <p:cNvPr id="3" name="Text 1"/>
          <p:cNvSpPr/>
          <p:nvPr/>
        </p:nvSpPr>
        <p:spPr>
          <a:xfrm>
            <a:off x="457200" y="228600"/>
            <a:ext cx="8229600" cy="50292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Problem</a:t>
            </a:r>
            <a:endParaRPr lang="en-US" sz="3000" dirty="0"/>
          </a:p>
        </p:txBody>
      </p:sp>
      <p:sp>
        <p:nvSpPr>
          <p:cNvPr id="4" name="Text 2"/>
          <p:cNvSpPr/>
          <p:nvPr/>
        </p:nvSpPr>
        <p:spPr>
          <a:xfrm>
            <a:off x="457200" y="713232"/>
            <a:ext cx="8229600" cy="320040"/>
          </a:xfrm>
          <a:prstGeom prst="rect">
            <a:avLst/>
          </a:prstGeom>
          <a:noFill/>
          <a:ln/>
        </p:spPr>
        <p:txBody>
          <a:bodyPr wrap="square" rtlCol="0" anchor="ctr"/>
          <a:lstStyle/>
          <a:p>
            <a:pPr algn="l" indent="0" marL="0">
              <a:buNone/>
            </a:pPr>
            <a:r>
              <a:rPr lang="en-US" sz="1400" i="1" dirty="0">
                <a:solidFill>
                  <a:srgbClr val="8B949E"/>
                </a:solidFill>
                <a:latin typeface="Calibri" pitchFamily="34" charset="0"/>
                <a:ea typeface="Calibri" pitchFamily="34" charset="-122"/>
                <a:cs typeface="Calibri" pitchFamily="34" charset="-120"/>
              </a:rPr>
              <a:t>What makes job searching so painful?</a:t>
            </a:r>
            <a:endParaRPr lang="en-US" sz="1400" dirty="0"/>
          </a:p>
        </p:txBody>
      </p:sp>
      <p:sp>
        <p:nvSpPr>
          <p:cNvPr id="5" name="Shape 3"/>
          <p:cNvSpPr/>
          <p:nvPr/>
        </p:nvSpPr>
        <p:spPr>
          <a:xfrm>
            <a:off x="365760" y="1188720"/>
            <a:ext cx="2606040" cy="2468880"/>
          </a:xfrm>
          <a:prstGeom prst="rect">
            <a:avLst/>
          </a:prstGeom>
          <a:solidFill>
            <a:srgbClr val="21262D"/>
          </a:solidFill>
          <a:ln w="12700">
            <a:solidFill>
              <a:srgbClr val="FFA657">
                <a:alpha val="40000"/>
              </a:srgbClr>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365760" y="1188720"/>
            <a:ext cx="2606040" cy="64008"/>
          </a:xfrm>
          <a:prstGeom prst="rect">
            <a:avLst/>
          </a:prstGeom>
          <a:solidFill>
            <a:srgbClr val="FFA657"/>
          </a:solidFill>
          <a:ln w="12700">
            <a:solidFill>
              <a:srgbClr val="FFA657"/>
            </a:solidFill>
            <a:prstDash val="solid"/>
          </a:ln>
        </p:spPr>
      </p:sp>
      <p:pic>
        <p:nvPicPr>
          <p:cNvPr id="7" name="Image 0" descr="preencoded.png">    </p:cNvPr>
          <p:cNvPicPr>
            <a:picLocks noChangeAspect="1"/>
          </p:cNvPicPr>
          <p:nvPr/>
        </p:nvPicPr>
        <p:blipFill>
          <a:blip r:embed="rId1"/>
          <a:stretch>
            <a:fillRect/>
          </a:stretch>
        </p:blipFill>
        <p:spPr>
          <a:xfrm>
            <a:off x="502920" y="1371600"/>
            <a:ext cx="457200" cy="457200"/>
          </a:xfrm>
          <a:prstGeom prst="rect">
            <a:avLst/>
          </a:prstGeom>
        </p:spPr>
      </p:pic>
      <p:sp>
        <p:nvSpPr>
          <p:cNvPr id="8" name="Text 5"/>
          <p:cNvSpPr/>
          <p:nvPr/>
        </p:nvSpPr>
        <p:spPr>
          <a:xfrm>
            <a:off x="457200" y="1874520"/>
            <a:ext cx="24231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Time Intensive</a:t>
            </a:r>
            <a:endParaRPr lang="en-US" sz="1500" dirty="0"/>
          </a:p>
        </p:txBody>
      </p:sp>
      <p:sp>
        <p:nvSpPr>
          <p:cNvPr id="9" name="Text 6"/>
          <p:cNvSpPr/>
          <p:nvPr/>
        </p:nvSpPr>
        <p:spPr>
          <a:xfrm>
            <a:off x="457200" y="2240280"/>
            <a:ext cx="2423160" cy="1280160"/>
          </a:xfrm>
          <a:prstGeom prst="rect">
            <a:avLst/>
          </a:prstGeom>
          <a:noFill/>
          <a:ln/>
        </p:spPr>
        <p:txBody>
          <a:bodyPr wrap="square" rtlCol="0" anchor="ctr"/>
          <a:lstStyle/>
          <a:p>
            <a:pPr indent="0" marL="0">
              <a:buNone/>
            </a:pPr>
            <a:r>
              <a:rPr lang="en-US" sz="1200" dirty="0">
                <a:solidFill>
                  <a:srgbClr val="C9D1D9"/>
                </a:solidFill>
                <a:latin typeface="Calibri" pitchFamily="34" charset="0"/>
                <a:ea typeface="Calibri" pitchFamily="34" charset="-122"/>
                <a:cs typeface="Calibri" pitchFamily="34" charset="-120"/>
              </a:rPr>
              <a:t>Hours spent browsing dozens of job boards daily with repetitive searching</a:t>
            </a:r>
            <a:endParaRPr lang="en-US" sz="1200" dirty="0"/>
          </a:p>
        </p:txBody>
      </p:sp>
      <p:sp>
        <p:nvSpPr>
          <p:cNvPr id="10" name="Shape 7"/>
          <p:cNvSpPr/>
          <p:nvPr/>
        </p:nvSpPr>
        <p:spPr>
          <a:xfrm>
            <a:off x="3200400" y="1188720"/>
            <a:ext cx="2606040" cy="2468880"/>
          </a:xfrm>
          <a:prstGeom prst="rect">
            <a:avLst/>
          </a:prstGeom>
          <a:solidFill>
            <a:srgbClr val="21262D"/>
          </a:solidFill>
          <a:ln w="12700">
            <a:solidFill>
              <a:srgbClr val="58A6FF">
                <a:alpha val="40000"/>
              </a:srgbClr>
            </a:solidFill>
            <a:prstDash val="solid"/>
          </a:ln>
          <a:effectLst>
            <a:outerShdw sx="100000" sy="100000" kx="0" ky="0" algn="bl" rotWithShape="0" blurRad="101600" dist="38100" dir="8100000">
              <a:srgbClr val="000000">
                <a:alpha val="30000"/>
              </a:srgbClr>
            </a:outerShdw>
          </a:effectLst>
        </p:spPr>
      </p:sp>
      <p:sp>
        <p:nvSpPr>
          <p:cNvPr id="11" name="Shape 8"/>
          <p:cNvSpPr/>
          <p:nvPr/>
        </p:nvSpPr>
        <p:spPr>
          <a:xfrm>
            <a:off x="3200400" y="1188720"/>
            <a:ext cx="2606040" cy="64008"/>
          </a:xfrm>
          <a:prstGeom prst="rect">
            <a:avLst/>
          </a:prstGeom>
          <a:solidFill>
            <a:srgbClr val="58A6FF"/>
          </a:solidFill>
          <a:ln w="12700">
            <a:solidFill>
              <a:srgbClr val="58A6FF"/>
            </a:solidFill>
            <a:prstDash val="solid"/>
          </a:ln>
        </p:spPr>
      </p:sp>
      <p:pic>
        <p:nvPicPr>
          <p:cNvPr id="12" name="Image 1" descr="preencoded.png">    </p:cNvPr>
          <p:cNvPicPr>
            <a:picLocks noChangeAspect="1"/>
          </p:cNvPicPr>
          <p:nvPr/>
        </p:nvPicPr>
        <p:blipFill>
          <a:blip r:embed="rId2"/>
          <a:stretch>
            <a:fillRect/>
          </a:stretch>
        </p:blipFill>
        <p:spPr>
          <a:xfrm>
            <a:off x="3337560" y="1371600"/>
            <a:ext cx="457200" cy="457200"/>
          </a:xfrm>
          <a:prstGeom prst="rect">
            <a:avLst/>
          </a:prstGeom>
        </p:spPr>
      </p:pic>
      <p:sp>
        <p:nvSpPr>
          <p:cNvPr id="13" name="Text 9"/>
          <p:cNvSpPr/>
          <p:nvPr/>
        </p:nvSpPr>
        <p:spPr>
          <a:xfrm>
            <a:off x="3291840" y="1874520"/>
            <a:ext cx="24231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Poor Relevance</a:t>
            </a:r>
            <a:endParaRPr lang="en-US" sz="1500" dirty="0"/>
          </a:p>
        </p:txBody>
      </p:sp>
      <p:sp>
        <p:nvSpPr>
          <p:cNvPr id="14" name="Text 10"/>
          <p:cNvSpPr/>
          <p:nvPr/>
        </p:nvSpPr>
        <p:spPr>
          <a:xfrm>
            <a:off x="3291840" y="2240280"/>
            <a:ext cx="2423160" cy="1280160"/>
          </a:xfrm>
          <a:prstGeom prst="rect">
            <a:avLst/>
          </a:prstGeom>
          <a:noFill/>
          <a:ln/>
        </p:spPr>
        <p:txBody>
          <a:bodyPr wrap="square" rtlCol="0" anchor="ctr"/>
          <a:lstStyle/>
          <a:p>
            <a:pPr indent="0" marL="0">
              <a:buNone/>
            </a:pPr>
            <a:r>
              <a:rPr lang="en-US" sz="1200" dirty="0">
                <a:solidFill>
                  <a:srgbClr val="C9D1D9"/>
                </a:solidFill>
                <a:latin typeface="Calibri" pitchFamily="34" charset="0"/>
                <a:ea typeface="Calibri" pitchFamily="34" charset="-122"/>
                <a:cs typeface="Calibri" pitchFamily="34" charset="-120"/>
              </a:rPr>
              <a:t>Generic search results show irrelevant roles that don't match skills or experience</a:t>
            </a:r>
            <a:endParaRPr lang="en-US" sz="1200" dirty="0"/>
          </a:p>
        </p:txBody>
      </p:sp>
      <p:sp>
        <p:nvSpPr>
          <p:cNvPr id="15" name="Shape 11"/>
          <p:cNvSpPr/>
          <p:nvPr/>
        </p:nvSpPr>
        <p:spPr>
          <a:xfrm>
            <a:off x="6035040" y="1188720"/>
            <a:ext cx="2606040" cy="2468880"/>
          </a:xfrm>
          <a:prstGeom prst="rect">
            <a:avLst/>
          </a:prstGeom>
          <a:solidFill>
            <a:srgbClr val="21262D"/>
          </a:solidFill>
          <a:ln w="12700">
            <a:solidFill>
              <a:srgbClr val="FF7B7B">
                <a:alpha val="40000"/>
              </a:srgbClr>
            </a:solidFill>
            <a:prstDash val="solid"/>
          </a:ln>
          <a:effectLst>
            <a:outerShdw sx="100000" sy="100000" kx="0" ky="0" algn="bl" rotWithShape="0" blurRad="101600" dist="38100" dir="8100000">
              <a:srgbClr val="000000">
                <a:alpha val="30000"/>
              </a:srgbClr>
            </a:outerShdw>
          </a:effectLst>
        </p:spPr>
      </p:sp>
      <p:sp>
        <p:nvSpPr>
          <p:cNvPr id="16" name="Shape 12"/>
          <p:cNvSpPr/>
          <p:nvPr/>
        </p:nvSpPr>
        <p:spPr>
          <a:xfrm>
            <a:off x="6035040" y="1188720"/>
            <a:ext cx="2606040" cy="64008"/>
          </a:xfrm>
          <a:prstGeom prst="rect">
            <a:avLst/>
          </a:prstGeom>
          <a:solidFill>
            <a:srgbClr val="FF7B7B"/>
          </a:solidFill>
          <a:ln w="12700">
            <a:solidFill>
              <a:srgbClr val="FF7B7B"/>
            </a:solidFill>
            <a:prstDash val="solid"/>
          </a:ln>
        </p:spPr>
      </p:sp>
      <p:pic>
        <p:nvPicPr>
          <p:cNvPr id="17" name="Image 2" descr="preencoded.png">    </p:cNvPr>
          <p:cNvPicPr>
            <a:picLocks noChangeAspect="1"/>
          </p:cNvPicPr>
          <p:nvPr/>
        </p:nvPicPr>
        <p:blipFill>
          <a:blip r:embed="rId3"/>
          <a:stretch>
            <a:fillRect/>
          </a:stretch>
        </p:blipFill>
        <p:spPr>
          <a:xfrm>
            <a:off x="6172200" y="1371600"/>
            <a:ext cx="457200" cy="457200"/>
          </a:xfrm>
          <a:prstGeom prst="rect">
            <a:avLst/>
          </a:prstGeom>
        </p:spPr>
      </p:pic>
      <p:sp>
        <p:nvSpPr>
          <p:cNvPr id="18" name="Text 13"/>
          <p:cNvSpPr/>
          <p:nvPr/>
        </p:nvSpPr>
        <p:spPr>
          <a:xfrm>
            <a:off x="6126480" y="1874520"/>
            <a:ext cx="24231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Manual Effort</a:t>
            </a:r>
            <a:endParaRPr lang="en-US" sz="1500" dirty="0"/>
          </a:p>
        </p:txBody>
      </p:sp>
      <p:sp>
        <p:nvSpPr>
          <p:cNvPr id="19" name="Text 14"/>
          <p:cNvSpPr/>
          <p:nvPr/>
        </p:nvSpPr>
        <p:spPr>
          <a:xfrm>
            <a:off x="6126480" y="2240280"/>
            <a:ext cx="2423160" cy="1280160"/>
          </a:xfrm>
          <a:prstGeom prst="rect">
            <a:avLst/>
          </a:prstGeom>
          <a:noFill/>
          <a:ln/>
        </p:spPr>
        <p:txBody>
          <a:bodyPr wrap="square" rtlCol="0" anchor="ctr"/>
          <a:lstStyle/>
          <a:p>
            <a:pPr indent="0" marL="0">
              <a:buNone/>
            </a:pPr>
            <a:r>
              <a:rPr lang="en-US" sz="1200" dirty="0">
                <a:solidFill>
                  <a:srgbClr val="C9D1D9"/>
                </a:solidFill>
                <a:latin typeface="Calibri" pitchFamily="34" charset="0"/>
                <a:ea typeface="Calibri" pitchFamily="34" charset="-122"/>
                <a:cs typeface="Calibri" pitchFamily="34" charset="-120"/>
              </a:rPr>
              <a:t>Copy-pasting details, tracking applications across multiple platforms manually</a:t>
            </a:r>
            <a:endParaRPr lang="en-US" sz="1200" dirty="0"/>
          </a:p>
        </p:txBody>
      </p:sp>
      <p:sp>
        <p:nvSpPr>
          <p:cNvPr id="20" name="Shape 15"/>
          <p:cNvSpPr/>
          <p:nvPr/>
        </p:nvSpPr>
        <p:spPr>
          <a:xfrm>
            <a:off x="365760" y="3794760"/>
            <a:ext cx="8412480" cy="777240"/>
          </a:xfrm>
          <a:prstGeom prst="rect">
            <a:avLst/>
          </a:prstGeom>
          <a:solidFill>
            <a:srgbClr val="1C2128"/>
          </a:solidFill>
          <a:ln w="12700">
            <a:solidFill>
              <a:srgbClr val="FFA657">
                <a:alpha val="30000"/>
              </a:srgbClr>
            </a:solidFill>
            <a:prstDash val="solid"/>
          </a:ln>
        </p:spPr>
      </p:sp>
      <p:sp>
        <p:nvSpPr>
          <p:cNvPr id="21" name="Text 16"/>
          <p:cNvSpPr/>
          <p:nvPr/>
        </p:nvSpPr>
        <p:spPr>
          <a:xfrm>
            <a:off x="548640" y="3794760"/>
            <a:ext cx="4114800" cy="777240"/>
          </a:xfrm>
          <a:prstGeom prst="rect">
            <a:avLst/>
          </a:prstGeom>
          <a:noFill/>
          <a:ln/>
        </p:spPr>
        <p:txBody>
          <a:bodyPr wrap="square" rtlCol="0" anchor="ctr"/>
          <a:lstStyle/>
          <a:p>
            <a:pPr indent="0" marL="0">
              <a:buNone/>
            </a:pPr>
            <a:r>
              <a:rPr lang="en-US" sz="1300" dirty="0">
                <a:solidFill>
                  <a:srgbClr val="C9D1D9"/>
                </a:solidFill>
              </a:rPr>
              <a:t>💡  Job seekers spend an average of</a:t>
            </a:r>
            <a:endParaRPr lang="en-US" sz="1300" dirty="0"/>
          </a:p>
        </p:txBody>
      </p:sp>
      <p:sp>
        <p:nvSpPr>
          <p:cNvPr id="22" name="Text 17"/>
          <p:cNvSpPr/>
          <p:nvPr/>
        </p:nvSpPr>
        <p:spPr>
          <a:xfrm>
            <a:off x="4663440" y="3794760"/>
            <a:ext cx="2286000" cy="777240"/>
          </a:xfrm>
          <a:prstGeom prst="rect">
            <a:avLst/>
          </a:prstGeom>
          <a:noFill/>
          <a:ln/>
        </p:spPr>
        <p:txBody>
          <a:bodyPr wrap="square" rtlCol="0" anchor="ctr"/>
          <a:lstStyle/>
          <a:p>
            <a:pPr indent="0" marL="0">
              <a:buNone/>
            </a:pPr>
            <a:r>
              <a:rPr lang="en-US" sz="2000" b="1" dirty="0">
                <a:solidFill>
                  <a:srgbClr val="FFA657"/>
                </a:solidFill>
              </a:rPr>
              <a:t>11 hours/week</a:t>
            </a:r>
            <a:endParaRPr lang="en-US" sz="2000" dirty="0"/>
          </a:p>
        </p:txBody>
      </p:sp>
      <p:sp>
        <p:nvSpPr>
          <p:cNvPr id="23" name="Text 18"/>
          <p:cNvSpPr/>
          <p:nvPr/>
        </p:nvSpPr>
        <p:spPr>
          <a:xfrm>
            <a:off x="6949440" y="3794760"/>
            <a:ext cx="1828800" cy="777240"/>
          </a:xfrm>
          <a:prstGeom prst="rect">
            <a:avLst/>
          </a:prstGeom>
          <a:noFill/>
          <a:ln/>
        </p:spPr>
        <p:txBody>
          <a:bodyPr wrap="square" rtlCol="0" anchor="ctr"/>
          <a:lstStyle/>
          <a:p>
            <a:pPr indent="0" marL="0">
              <a:buNone/>
            </a:pPr>
            <a:r>
              <a:rPr lang="en-US" sz="1300" dirty="0">
                <a:solidFill>
                  <a:srgbClr val="C9D1D9"/>
                </a:solidFill>
              </a:rPr>
              <a:t>on manual job searching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7B7B"/>
          </a:solidFill>
          <a:ln w="12700">
            <a:solidFill>
              <a:srgbClr val="FF7B7B"/>
            </a:solidFill>
            <a:prstDash val="solid"/>
          </a:ln>
        </p:spPr>
      </p:sp>
      <p:sp>
        <p:nvSpPr>
          <p:cNvPr id="3" name="Text 1"/>
          <p:cNvSpPr/>
          <p:nvPr/>
        </p:nvSpPr>
        <p:spPr>
          <a:xfrm>
            <a:off x="457200" y="228600"/>
            <a:ext cx="82296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Key Challenges</a:t>
            </a:r>
            <a:endParaRPr lang="en-US" sz="3000" dirty="0"/>
          </a:p>
        </p:txBody>
      </p:sp>
      <p:sp>
        <p:nvSpPr>
          <p:cNvPr id="4" name="Shape 2"/>
          <p:cNvSpPr/>
          <p:nvPr/>
        </p:nvSpPr>
        <p:spPr>
          <a:xfrm>
            <a:off x="365760" y="1005840"/>
            <a:ext cx="4206240" cy="1097280"/>
          </a:xfrm>
          <a:prstGeom prst="rect">
            <a:avLst/>
          </a:prstGeom>
          <a:solidFill>
            <a:srgbClr val="21262D"/>
          </a:solidFill>
          <a:ln w="12700">
            <a:solidFill>
              <a:srgbClr val="FF7B7B">
                <a:alpha val="25000"/>
              </a:srgbClr>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475488" y="1280160"/>
            <a:ext cx="457200" cy="457200"/>
          </a:xfrm>
          <a:prstGeom prst="ellipse">
            <a:avLst/>
          </a:prstGeom>
          <a:solidFill>
            <a:srgbClr val="FF7B7B"/>
          </a:solidFill>
          <a:ln w="12700">
            <a:solidFill>
              <a:srgbClr val="FF7B7B"/>
            </a:solidFill>
            <a:prstDash val="solid"/>
          </a:ln>
        </p:spPr>
      </p:sp>
      <p:sp>
        <p:nvSpPr>
          <p:cNvPr id="6" name="Text 4"/>
          <p:cNvSpPr/>
          <p:nvPr/>
        </p:nvSpPr>
        <p:spPr>
          <a:xfrm>
            <a:off x="475488" y="1280160"/>
            <a:ext cx="457200" cy="457200"/>
          </a:xfrm>
          <a:prstGeom prst="rect">
            <a:avLst/>
          </a:prstGeom>
          <a:noFill/>
          <a:ln/>
        </p:spPr>
        <p:txBody>
          <a:bodyPr wrap="square" rtlCol="0" anchor="ctr"/>
          <a:lstStyle/>
          <a:p>
            <a:pPr algn="ctr" indent="0" marL="0">
              <a:buNone/>
            </a:pPr>
            <a:r>
              <a:rPr lang="en-US" sz="1300" b="1" dirty="0">
                <a:solidFill>
                  <a:srgbClr val="FFFFFF"/>
                </a:solidFill>
              </a:rPr>
              <a:t>1</a:t>
            </a:r>
            <a:endParaRPr lang="en-US" sz="1300" dirty="0"/>
          </a:p>
        </p:txBody>
      </p:sp>
      <p:sp>
        <p:nvSpPr>
          <p:cNvPr id="7" name="Text 5"/>
          <p:cNvSpPr/>
          <p:nvPr/>
        </p:nvSpPr>
        <p:spPr>
          <a:xfrm>
            <a:off x="1051560" y="1143000"/>
            <a:ext cx="3383280" cy="822960"/>
          </a:xfrm>
          <a:prstGeom prst="rect">
            <a:avLst/>
          </a:prstGeom>
          <a:noFill/>
          <a:ln/>
        </p:spPr>
        <p:txBody>
          <a:bodyPr wrap="square" rtlCol="0" anchor="ctr"/>
          <a:lstStyle/>
          <a:p>
            <a:pPr indent="0" marL="0">
              <a:buNone/>
            </a:pPr>
            <a:r>
              <a:rPr lang="en-US" sz="1200" dirty="0">
                <a:solidFill>
                  <a:srgbClr val="C9D1D9"/>
                </a:solidFill>
                <a:latin typeface="Calibri" pitchFamily="34" charset="0"/>
                <a:ea typeface="Calibri" pitchFamily="34" charset="-122"/>
                <a:cs typeface="Calibri" pitchFamily="34" charset="-120"/>
              </a:rPr>
              <a:t>Multiple job platforms to monitor (LinkedIn, Indeed, Glassdoor, company sites)</a:t>
            </a:r>
            <a:endParaRPr lang="en-US" sz="1200" dirty="0"/>
          </a:p>
        </p:txBody>
      </p:sp>
      <p:sp>
        <p:nvSpPr>
          <p:cNvPr id="8" name="Shape 6"/>
          <p:cNvSpPr/>
          <p:nvPr/>
        </p:nvSpPr>
        <p:spPr>
          <a:xfrm>
            <a:off x="365760" y="2267712"/>
            <a:ext cx="4206240" cy="1097280"/>
          </a:xfrm>
          <a:prstGeom prst="rect">
            <a:avLst/>
          </a:prstGeom>
          <a:solidFill>
            <a:srgbClr val="21262D"/>
          </a:solidFill>
          <a:ln w="12700">
            <a:solidFill>
              <a:srgbClr val="FF7B7B">
                <a:alpha val="25000"/>
              </a:srgbClr>
            </a:solidFill>
            <a:prstDash val="solid"/>
          </a:ln>
          <a:effectLst>
            <a:outerShdw sx="100000" sy="100000" kx="0" ky="0" algn="bl" rotWithShape="0" blurRad="101600" dist="38100" dir="8100000">
              <a:srgbClr val="000000">
                <a:alpha val="30000"/>
              </a:srgbClr>
            </a:outerShdw>
          </a:effectLst>
        </p:spPr>
      </p:sp>
      <p:sp>
        <p:nvSpPr>
          <p:cNvPr id="9" name="Shape 7"/>
          <p:cNvSpPr/>
          <p:nvPr/>
        </p:nvSpPr>
        <p:spPr>
          <a:xfrm>
            <a:off x="475488" y="2542032"/>
            <a:ext cx="457200" cy="457200"/>
          </a:xfrm>
          <a:prstGeom prst="ellipse">
            <a:avLst/>
          </a:prstGeom>
          <a:solidFill>
            <a:srgbClr val="FF7B7B"/>
          </a:solidFill>
          <a:ln w="12700">
            <a:solidFill>
              <a:srgbClr val="FF7B7B"/>
            </a:solidFill>
            <a:prstDash val="solid"/>
          </a:ln>
        </p:spPr>
      </p:sp>
      <p:sp>
        <p:nvSpPr>
          <p:cNvPr id="10" name="Text 8"/>
          <p:cNvSpPr/>
          <p:nvPr/>
        </p:nvSpPr>
        <p:spPr>
          <a:xfrm>
            <a:off x="475488" y="2542032"/>
            <a:ext cx="457200" cy="457200"/>
          </a:xfrm>
          <a:prstGeom prst="rect">
            <a:avLst/>
          </a:prstGeom>
          <a:noFill/>
          <a:ln/>
        </p:spPr>
        <p:txBody>
          <a:bodyPr wrap="square" rtlCol="0" anchor="ctr"/>
          <a:lstStyle/>
          <a:p>
            <a:pPr algn="ctr" indent="0" marL="0">
              <a:buNone/>
            </a:pPr>
            <a:r>
              <a:rPr lang="en-US" sz="1300" b="1" dirty="0">
                <a:solidFill>
                  <a:srgbClr val="FFFFFF"/>
                </a:solidFill>
              </a:rPr>
              <a:t>2</a:t>
            </a:r>
            <a:endParaRPr lang="en-US" sz="1300" dirty="0"/>
          </a:p>
        </p:txBody>
      </p:sp>
      <p:sp>
        <p:nvSpPr>
          <p:cNvPr id="11" name="Text 9"/>
          <p:cNvSpPr/>
          <p:nvPr/>
        </p:nvSpPr>
        <p:spPr>
          <a:xfrm>
            <a:off x="1051560" y="2404872"/>
            <a:ext cx="3383280" cy="822960"/>
          </a:xfrm>
          <a:prstGeom prst="rect">
            <a:avLst/>
          </a:prstGeom>
          <a:noFill/>
          <a:ln/>
        </p:spPr>
        <p:txBody>
          <a:bodyPr wrap="square" rtlCol="0" anchor="ctr"/>
          <a:lstStyle/>
          <a:p>
            <a:pPr indent="0" marL="0">
              <a:buNone/>
            </a:pPr>
            <a:r>
              <a:rPr lang="en-US" sz="1200" dirty="0">
                <a:solidFill>
                  <a:srgbClr val="C9D1D9"/>
                </a:solidFill>
                <a:latin typeface="Calibri" pitchFamily="34" charset="0"/>
                <a:ea typeface="Calibri" pitchFamily="34" charset="-122"/>
                <a:cs typeface="Calibri" pitchFamily="34" charset="-120"/>
              </a:rPr>
              <a:t>No centralized filtering by skills, experience level, or tech stack</a:t>
            </a:r>
            <a:endParaRPr lang="en-US" sz="1200" dirty="0"/>
          </a:p>
        </p:txBody>
      </p:sp>
      <p:sp>
        <p:nvSpPr>
          <p:cNvPr id="12" name="Shape 10"/>
          <p:cNvSpPr/>
          <p:nvPr/>
        </p:nvSpPr>
        <p:spPr>
          <a:xfrm>
            <a:off x="365760" y="3529584"/>
            <a:ext cx="4206240" cy="1097280"/>
          </a:xfrm>
          <a:prstGeom prst="rect">
            <a:avLst/>
          </a:prstGeom>
          <a:solidFill>
            <a:srgbClr val="21262D"/>
          </a:solidFill>
          <a:ln w="12700">
            <a:solidFill>
              <a:srgbClr val="FF7B7B">
                <a:alpha val="25000"/>
              </a:srgbClr>
            </a:solidFill>
            <a:prstDash val="solid"/>
          </a:ln>
          <a:effectLst>
            <a:outerShdw sx="100000" sy="100000" kx="0" ky="0" algn="bl" rotWithShape="0" blurRad="101600" dist="38100" dir="8100000">
              <a:srgbClr val="000000">
                <a:alpha val="30000"/>
              </a:srgbClr>
            </a:outerShdw>
          </a:effectLst>
        </p:spPr>
      </p:sp>
      <p:sp>
        <p:nvSpPr>
          <p:cNvPr id="13" name="Shape 11"/>
          <p:cNvSpPr/>
          <p:nvPr/>
        </p:nvSpPr>
        <p:spPr>
          <a:xfrm>
            <a:off x="475488" y="3803904"/>
            <a:ext cx="457200" cy="457200"/>
          </a:xfrm>
          <a:prstGeom prst="ellipse">
            <a:avLst/>
          </a:prstGeom>
          <a:solidFill>
            <a:srgbClr val="FF7B7B"/>
          </a:solidFill>
          <a:ln w="12700">
            <a:solidFill>
              <a:srgbClr val="FF7B7B"/>
            </a:solidFill>
            <a:prstDash val="solid"/>
          </a:ln>
        </p:spPr>
      </p:sp>
      <p:sp>
        <p:nvSpPr>
          <p:cNvPr id="14" name="Text 12"/>
          <p:cNvSpPr/>
          <p:nvPr/>
        </p:nvSpPr>
        <p:spPr>
          <a:xfrm>
            <a:off x="475488" y="3803904"/>
            <a:ext cx="457200" cy="457200"/>
          </a:xfrm>
          <a:prstGeom prst="rect">
            <a:avLst/>
          </a:prstGeom>
          <a:noFill/>
          <a:ln/>
        </p:spPr>
        <p:txBody>
          <a:bodyPr wrap="square" rtlCol="0" anchor="ctr"/>
          <a:lstStyle/>
          <a:p>
            <a:pPr algn="ctr" indent="0" marL="0">
              <a:buNone/>
            </a:pPr>
            <a:r>
              <a:rPr lang="en-US" sz="1300" b="1" dirty="0">
                <a:solidFill>
                  <a:srgbClr val="FFFFFF"/>
                </a:solidFill>
              </a:rPr>
              <a:t>3</a:t>
            </a:r>
            <a:endParaRPr lang="en-US" sz="1300" dirty="0"/>
          </a:p>
        </p:txBody>
      </p:sp>
      <p:sp>
        <p:nvSpPr>
          <p:cNvPr id="15" name="Text 13"/>
          <p:cNvSpPr/>
          <p:nvPr/>
        </p:nvSpPr>
        <p:spPr>
          <a:xfrm>
            <a:off x="1051560" y="3666744"/>
            <a:ext cx="3383280" cy="822960"/>
          </a:xfrm>
          <a:prstGeom prst="rect">
            <a:avLst/>
          </a:prstGeom>
          <a:noFill/>
          <a:ln/>
        </p:spPr>
        <p:txBody>
          <a:bodyPr wrap="square" rtlCol="0" anchor="ctr"/>
          <a:lstStyle/>
          <a:p>
            <a:pPr indent="0" marL="0">
              <a:buNone/>
            </a:pPr>
            <a:r>
              <a:rPr lang="en-US" sz="1200" dirty="0">
                <a:solidFill>
                  <a:srgbClr val="C9D1D9"/>
                </a:solidFill>
                <a:latin typeface="Calibri" pitchFamily="34" charset="0"/>
                <a:ea typeface="Calibri" pitchFamily="34" charset="-122"/>
                <a:cs typeface="Calibri" pitchFamily="34" charset="-120"/>
              </a:rPr>
              <a:t>Duplicate listings across platforms wasting valuable time</a:t>
            </a:r>
            <a:endParaRPr lang="en-US" sz="1200" dirty="0"/>
          </a:p>
        </p:txBody>
      </p:sp>
      <p:sp>
        <p:nvSpPr>
          <p:cNvPr id="16" name="Shape 14"/>
          <p:cNvSpPr/>
          <p:nvPr/>
        </p:nvSpPr>
        <p:spPr>
          <a:xfrm>
            <a:off x="4754880" y="1005840"/>
            <a:ext cx="4206240" cy="1097280"/>
          </a:xfrm>
          <a:prstGeom prst="rect">
            <a:avLst/>
          </a:prstGeom>
          <a:solidFill>
            <a:srgbClr val="21262D"/>
          </a:solidFill>
          <a:ln w="12700">
            <a:solidFill>
              <a:srgbClr val="FF7B7B">
                <a:alpha val="25000"/>
              </a:srgbClr>
            </a:solidFill>
            <a:prstDash val="solid"/>
          </a:ln>
          <a:effectLst>
            <a:outerShdw sx="100000" sy="100000" kx="0" ky="0" algn="bl" rotWithShape="0" blurRad="101600" dist="38100" dir="8100000">
              <a:srgbClr val="000000">
                <a:alpha val="30000"/>
              </a:srgbClr>
            </a:outerShdw>
          </a:effectLst>
        </p:spPr>
      </p:sp>
      <p:sp>
        <p:nvSpPr>
          <p:cNvPr id="17" name="Shape 15"/>
          <p:cNvSpPr/>
          <p:nvPr/>
        </p:nvSpPr>
        <p:spPr>
          <a:xfrm>
            <a:off x="4864608" y="1280160"/>
            <a:ext cx="457200" cy="457200"/>
          </a:xfrm>
          <a:prstGeom prst="ellipse">
            <a:avLst/>
          </a:prstGeom>
          <a:solidFill>
            <a:srgbClr val="FF7B7B"/>
          </a:solidFill>
          <a:ln w="12700">
            <a:solidFill>
              <a:srgbClr val="FF7B7B"/>
            </a:solidFill>
            <a:prstDash val="solid"/>
          </a:ln>
        </p:spPr>
      </p:sp>
      <p:sp>
        <p:nvSpPr>
          <p:cNvPr id="18" name="Text 16"/>
          <p:cNvSpPr/>
          <p:nvPr/>
        </p:nvSpPr>
        <p:spPr>
          <a:xfrm>
            <a:off x="4864608" y="1280160"/>
            <a:ext cx="457200" cy="457200"/>
          </a:xfrm>
          <a:prstGeom prst="rect">
            <a:avLst/>
          </a:prstGeom>
          <a:noFill/>
          <a:ln/>
        </p:spPr>
        <p:txBody>
          <a:bodyPr wrap="square" rtlCol="0" anchor="ctr"/>
          <a:lstStyle/>
          <a:p>
            <a:pPr algn="ctr" indent="0" marL="0">
              <a:buNone/>
            </a:pPr>
            <a:r>
              <a:rPr lang="en-US" sz="1300" b="1" dirty="0">
                <a:solidFill>
                  <a:srgbClr val="FFFFFF"/>
                </a:solidFill>
              </a:rPr>
              <a:t>4</a:t>
            </a:r>
            <a:endParaRPr lang="en-US" sz="1300" dirty="0"/>
          </a:p>
        </p:txBody>
      </p:sp>
      <p:sp>
        <p:nvSpPr>
          <p:cNvPr id="19" name="Text 17"/>
          <p:cNvSpPr/>
          <p:nvPr/>
        </p:nvSpPr>
        <p:spPr>
          <a:xfrm>
            <a:off x="5440680" y="1143000"/>
            <a:ext cx="3383280" cy="822960"/>
          </a:xfrm>
          <a:prstGeom prst="rect">
            <a:avLst/>
          </a:prstGeom>
          <a:noFill/>
          <a:ln/>
        </p:spPr>
        <p:txBody>
          <a:bodyPr wrap="square" rtlCol="0" anchor="ctr"/>
          <a:lstStyle/>
          <a:p>
            <a:pPr indent="0" marL="0">
              <a:buNone/>
            </a:pPr>
            <a:r>
              <a:rPr lang="en-US" sz="1200" dirty="0">
                <a:solidFill>
                  <a:srgbClr val="C9D1D9"/>
                </a:solidFill>
                <a:latin typeface="Calibri" pitchFamily="34" charset="0"/>
                <a:ea typeface="Calibri" pitchFamily="34" charset="-122"/>
                <a:cs typeface="Calibri" pitchFamily="34" charset="-120"/>
              </a:rPr>
              <a:t>Lack of direct application links requiring extra navigation steps</a:t>
            </a:r>
            <a:endParaRPr lang="en-US" sz="1200" dirty="0"/>
          </a:p>
        </p:txBody>
      </p:sp>
      <p:sp>
        <p:nvSpPr>
          <p:cNvPr id="20" name="Shape 18"/>
          <p:cNvSpPr/>
          <p:nvPr/>
        </p:nvSpPr>
        <p:spPr>
          <a:xfrm>
            <a:off x="4754880" y="2267712"/>
            <a:ext cx="4206240" cy="1097280"/>
          </a:xfrm>
          <a:prstGeom prst="rect">
            <a:avLst/>
          </a:prstGeom>
          <a:solidFill>
            <a:srgbClr val="21262D"/>
          </a:solidFill>
          <a:ln w="12700">
            <a:solidFill>
              <a:srgbClr val="FF7B7B">
                <a:alpha val="25000"/>
              </a:srgbClr>
            </a:solidFill>
            <a:prstDash val="solid"/>
          </a:ln>
          <a:effectLst>
            <a:outerShdw sx="100000" sy="100000" kx="0" ky="0" algn="bl" rotWithShape="0" blurRad="101600" dist="38100" dir="8100000">
              <a:srgbClr val="000000">
                <a:alpha val="30000"/>
              </a:srgbClr>
            </a:outerShdw>
          </a:effectLst>
        </p:spPr>
      </p:sp>
      <p:sp>
        <p:nvSpPr>
          <p:cNvPr id="21" name="Shape 19"/>
          <p:cNvSpPr/>
          <p:nvPr/>
        </p:nvSpPr>
        <p:spPr>
          <a:xfrm>
            <a:off x="4864608" y="2542032"/>
            <a:ext cx="457200" cy="457200"/>
          </a:xfrm>
          <a:prstGeom prst="ellipse">
            <a:avLst/>
          </a:prstGeom>
          <a:solidFill>
            <a:srgbClr val="FF7B7B"/>
          </a:solidFill>
          <a:ln w="12700">
            <a:solidFill>
              <a:srgbClr val="FF7B7B"/>
            </a:solidFill>
            <a:prstDash val="solid"/>
          </a:ln>
        </p:spPr>
      </p:sp>
      <p:sp>
        <p:nvSpPr>
          <p:cNvPr id="22" name="Text 20"/>
          <p:cNvSpPr/>
          <p:nvPr/>
        </p:nvSpPr>
        <p:spPr>
          <a:xfrm>
            <a:off x="4864608" y="2542032"/>
            <a:ext cx="457200" cy="457200"/>
          </a:xfrm>
          <a:prstGeom prst="rect">
            <a:avLst/>
          </a:prstGeom>
          <a:noFill/>
          <a:ln/>
        </p:spPr>
        <p:txBody>
          <a:bodyPr wrap="square" rtlCol="0" anchor="ctr"/>
          <a:lstStyle/>
          <a:p>
            <a:pPr algn="ctr" indent="0" marL="0">
              <a:buNone/>
            </a:pPr>
            <a:r>
              <a:rPr lang="en-US" sz="1300" b="1" dirty="0">
                <a:solidFill>
                  <a:srgbClr val="FFFFFF"/>
                </a:solidFill>
              </a:rPr>
              <a:t>5</a:t>
            </a:r>
            <a:endParaRPr lang="en-US" sz="1300" dirty="0"/>
          </a:p>
        </p:txBody>
      </p:sp>
      <p:sp>
        <p:nvSpPr>
          <p:cNvPr id="23" name="Text 21"/>
          <p:cNvSpPr/>
          <p:nvPr/>
        </p:nvSpPr>
        <p:spPr>
          <a:xfrm>
            <a:off x="5440680" y="2404872"/>
            <a:ext cx="3383280" cy="822960"/>
          </a:xfrm>
          <a:prstGeom prst="rect">
            <a:avLst/>
          </a:prstGeom>
          <a:noFill/>
          <a:ln/>
        </p:spPr>
        <p:txBody>
          <a:bodyPr wrap="square" rtlCol="0" anchor="ctr"/>
          <a:lstStyle/>
          <a:p>
            <a:pPr indent="0" marL="0">
              <a:buNone/>
            </a:pPr>
            <a:r>
              <a:rPr lang="en-US" sz="1200" dirty="0">
                <a:solidFill>
                  <a:srgbClr val="C9D1D9"/>
                </a:solidFill>
                <a:latin typeface="Calibri" pitchFamily="34" charset="0"/>
                <a:ea typeface="Calibri" pitchFamily="34" charset="-122"/>
                <a:cs typeface="Calibri" pitchFamily="34" charset="-120"/>
              </a:rPr>
              <a:t>No AI-based resume-to-job matching available for free</a:t>
            </a:r>
            <a:endParaRPr lang="en-US" sz="1200" dirty="0"/>
          </a:p>
        </p:txBody>
      </p:sp>
      <p:sp>
        <p:nvSpPr>
          <p:cNvPr id="24" name="Shape 22"/>
          <p:cNvSpPr/>
          <p:nvPr/>
        </p:nvSpPr>
        <p:spPr>
          <a:xfrm>
            <a:off x="4754880" y="3529584"/>
            <a:ext cx="4206240" cy="1097280"/>
          </a:xfrm>
          <a:prstGeom prst="rect">
            <a:avLst/>
          </a:prstGeom>
          <a:solidFill>
            <a:srgbClr val="21262D"/>
          </a:solidFill>
          <a:ln w="12700">
            <a:solidFill>
              <a:srgbClr val="FF7B7B">
                <a:alpha val="25000"/>
              </a:srgbClr>
            </a:solidFill>
            <a:prstDash val="solid"/>
          </a:ln>
          <a:effectLst>
            <a:outerShdw sx="100000" sy="100000" kx="0" ky="0" algn="bl" rotWithShape="0" blurRad="101600" dist="38100" dir="8100000">
              <a:srgbClr val="000000">
                <a:alpha val="30000"/>
              </a:srgbClr>
            </a:outerShdw>
          </a:effectLst>
        </p:spPr>
      </p:sp>
      <p:sp>
        <p:nvSpPr>
          <p:cNvPr id="25" name="Shape 23"/>
          <p:cNvSpPr/>
          <p:nvPr/>
        </p:nvSpPr>
        <p:spPr>
          <a:xfrm>
            <a:off x="4864608" y="3803904"/>
            <a:ext cx="457200" cy="457200"/>
          </a:xfrm>
          <a:prstGeom prst="ellipse">
            <a:avLst/>
          </a:prstGeom>
          <a:solidFill>
            <a:srgbClr val="FF7B7B"/>
          </a:solidFill>
          <a:ln w="12700">
            <a:solidFill>
              <a:srgbClr val="FF7B7B"/>
            </a:solidFill>
            <a:prstDash val="solid"/>
          </a:ln>
        </p:spPr>
      </p:sp>
      <p:sp>
        <p:nvSpPr>
          <p:cNvPr id="26" name="Text 24"/>
          <p:cNvSpPr/>
          <p:nvPr/>
        </p:nvSpPr>
        <p:spPr>
          <a:xfrm>
            <a:off x="4864608" y="3803904"/>
            <a:ext cx="457200" cy="457200"/>
          </a:xfrm>
          <a:prstGeom prst="rect">
            <a:avLst/>
          </a:prstGeom>
          <a:noFill/>
          <a:ln/>
        </p:spPr>
        <p:txBody>
          <a:bodyPr wrap="square" rtlCol="0" anchor="ctr"/>
          <a:lstStyle/>
          <a:p>
            <a:pPr algn="ctr" indent="0" marL="0">
              <a:buNone/>
            </a:pPr>
            <a:r>
              <a:rPr lang="en-US" sz="1300" b="1" dirty="0">
                <a:solidFill>
                  <a:srgbClr val="FFFFFF"/>
                </a:solidFill>
              </a:rPr>
              <a:t>6</a:t>
            </a:r>
            <a:endParaRPr lang="en-US" sz="1300" dirty="0"/>
          </a:p>
        </p:txBody>
      </p:sp>
      <p:sp>
        <p:nvSpPr>
          <p:cNvPr id="27" name="Text 25"/>
          <p:cNvSpPr/>
          <p:nvPr/>
        </p:nvSpPr>
        <p:spPr>
          <a:xfrm>
            <a:off x="5440680" y="3666744"/>
            <a:ext cx="3383280" cy="822960"/>
          </a:xfrm>
          <a:prstGeom prst="rect">
            <a:avLst/>
          </a:prstGeom>
          <a:noFill/>
          <a:ln/>
        </p:spPr>
        <p:txBody>
          <a:bodyPr wrap="square" rtlCol="0" anchor="ctr"/>
          <a:lstStyle/>
          <a:p>
            <a:pPr indent="0" marL="0">
              <a:buNone/>
            </a:pPr>
            <a:r>
              <a:rPr lang="en-US" sz="1200" dirty="0">
                <a:solidFill>
                  <a:srgbClr val="C9D1D9"/>
                </a:solidFill>
                <a:latin typeface="Calibri" pitchFamily="34" charset="0"/>
                <a:ea typeface="Calibri" pitchFamily="34" charset="-122"/>
                <a:cs typeface="Calibri" pitchFamily="34" charset="-120"/>
              </a:rPr>
              <a:t>High cognitive load from reading dozens of irrelevant job descriptions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FB950"/>
          </a:solidFill>
          <a:ln w="12700">
            <a:solidFill>
              <a:srgbClr val="3FB950"/>
            </a:solidFill>
            <a:prstDash val="solid"/>
          </a:ln>
        </p:spPr>
      </p:sp>
      <p:sp>
        <p:nvSpPr>
          <p:cNvPr id="3" name="Text 1"/>
          <p:cNvSpPr/>
          <p:nvPr/>
        </p:nvSpPr>
        <p:spPr>
          <a:xfrm>
            <a:off x="457200" y="228600"/>
            <a:ext cx="54864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Solution</a:t>
            </a:r>
            <a:endParaRPr lang="en-US" sz="3000" dirty="0"/>
          </a:p>
        </p:txBody>
      </p:sp>
      <p:sp>
        <p:nvSpPr>
          <p:cNvPr id="4" name="Text 2"/>
          <p:cNvSpPr/>
          <p:nvPr/>
        </p:nvSpPr>
        <p:spPr>
          <a:xfrm>
            <a:off x="457200" y="731520"/>
            <a:ext cx="5486400" cy="320040"/>
          </a:xfrm>
          <a:prstGeom prst="rect">
            <a:avLst/>
          </a:prstGeom>
          <a:noFill/>
          <a:ln/>
        </p:spPr>
        <p:txBody>
          <a:bodyPr wrap="square" rtlCol="0" anchor="ctr"/>
          <a:lstStyle/>
          <a:p>
            <a:pPr indent="0" marL="0">
              <a:buNone/>
            </a:pPr>
            <a:r>
              <a:rPr lang="en-US" sz="1500" i="1" dirty="0">
                <a:solidFill>
                  <a:srgbClr val="3FB950"/>
                </a:solidFill>
              </a:rPr>
              <a:t>AI-Powered Job Matching Workflow</a:t>
            </a:r>
            <a:endParaRPr lang="en-US" sz="1500" dirty="0"/>
          </a:p>
        </p:txBody>
      </p:sp>
      <p:sp>
        <p:nvSpPr>
          <p:cNvPr id="5" name="Shape 3"/>
          <p:cNvSpPr/>
          <p:nvPr/>
        </p:nvSpPr>
        <p:spPr>
          <a:xfrm>
            <a:off x="365760" y="1143000"/>
            <a:ext cx="5029200" cy="2926080"/>
          </a:xfrm>
          <a:prstGeom prst="rect">
            <a:avLst/>
          </a:prstGeom>
          <a:solidFill>
            <a:srgbClr val="21262D"/>
          </a:solidFill>
          <a:ln w="12700">
            <a:solidFill>
              <a:srgbClr val="3FB950">
                <a:alpha val="30000"/>
              </a:srgbClr>
            </a:solidFill>
            <a:prstDash val="solid"/>
          </a:ln>
          <a:effectLst>
            <a:outerShdw sx="100000" sy="100000" kx="0" ky="0" algn="bl" rotWithShape="0" blurRad="101600" dist="38100" dir="8100000">
              <a:srgbClr val="000000">
                <a:alpha val="30000"/>
              </a:srgbClr>
            </a:outerShdw>
          </a:effectLst>
        </p:spPr>
      </p:sp>
      <p:sp>
        <p:nvSpPr>
          <p:cNvPr id="6" name="Text 4"/>
          <p:cNvSpPr/>
          <p:nvPr/>
        </p:nvSpPr>
        <p:spPr>
          <a:xfrm>
            <a:off x="548640" y="1234440"/>
            <a:ext cx="4663440" cy="365760"/>
          </a:xfrm>
          <a:prstGeom prst="rect">
            <a:avLst/>
          </a:prstGeom>
          <a:noFill/>
          <a:ln/>
        </p:spPr>
        <p:txBody>
          <a:bodyPr wrap="square" rtlCol="0" anchor="ctr"/>
          <a:lstStyle/>
          <a:p>
            <a:pPr indent="0" marL="0">
              <a:buNone/>
            </a:pPr>
            <a:r>
              <a:rPr lang="en-US" sz="1600" b="1" dirty="0">
                <a:solidFill>
                  <a:srgbClr val="3FB950"/>
                </a:solidFill>
              </a:rPr>
              <a:t>What I Built</a:t>
            </a:r>
            <a:endParaRPr lang="en-US" sz="1600" dirty="0"/>
          </a:p>
        </p:txBody>
      </p:sp>
      <p:sp>
        <p:nvSpPr>
          <p:cNvPr id="7" name="Text 5"/>
          <p:cNvSpPr/>
          <p:nvPr/>
        </p:nvSpPr>
        <p:spPr>
          <a:xfrm>
            <a:off x="548640" y="1691640"/>
            <a:ext cx="4663440" cy="2194560"/>
          </a:xfrm>
          <a:prstGeom prst="rect">
            <a:avLst/>
          </a:prstGeom>
          <a:noFill/>
          <a:ln/>
        </p:spPr>
        <p:txBody>
          <a:bodyPr wrap="square" rtlCol="0" anchor="ctr"/>
          <a:lstStyle/>
          <a:p>
            <a:pPr marL="342900" indent="-342900">
              <a:spcAft>
                <a:spcPts val="600"/>
              </a:spcAft>
              <a:buSzPct val="100000"/>
              <a:buChar char="•"/>
            </a:pPr>
            <a:r>
              <a:rPr lang="en-US" sz="1300" dirty="0">
                <a:solidFill>
                  <a:srgbClr val="C9D1D9"/>
                </a:solidFill>
                <a:latin typeface="Calibri" pitchFamily="34" charset="0"/>
                <a:ea typeface="Calibri" pitchFamily="34" charset="-122"/>
                <a:cs typeface="Calibri" pitchFamily="34" charset="-120"/>
              </a:rPr>
              <a:t>Automated job scraping across multiple platforms</a:t>
            </a:r>
            <a:endParaRPr lang="en-US" sz="1300" dirty="0"/>
          </a:p>
          <a:p>
            <a:pPr marL="342900" indent="-342900">
              <a:spcAft>
                <a:spcPts val="600"/>
              </a:spcAft>
              <a:buSzPct val="100000"/>
              <a:buChar char="•"/>
            </a:pPr>
            <a:r>
              <a:rPr lang="en-US" sz="1300" dirty="0">
                <a:solidFill>
                  <a:srgbClr val="C9D1D9"/>
                </a:solidFill>
                <a:latin typeface="Calibri" pitchFamily="34" charset="0"/>
                <a:ea typeface="Calibri" pitchFamily="34" charset="-122"/>
                <a:cs typeface="Calibri" pitchFamily="34" charset="-120"/>
              </a:rPr>
              <a:t>Resume-aware AI matching using Claude AI</a:t>
            </a:r>
            <a:endParaRPr lang="en-US" sz="1300" dirty="0"/>
          </a:p>
          <a:p>
            <a:pPr marL="342900" indent="-342900">
              <a:spcAft>
                <a:spcPts val="600"/>
              </a:spcAft>
              <a:buSzPct val="100000"/>
              <a:buChar char="•"/>
            </a:pPr>
            <a:r>
              <a:rPr lang="en-US" sz="1300" dirty="0">
                <a:solidFill>
                  <a:srgbClr val="C9D1D9"/>
                </a:solidFill>
                <a:latin typeface="Calibri" pitchFamily="34" charset="0"/>
                <a:ea typeface="Calibri" pitchFamily="34" charset="-122"/>
                <a:cs typeface="Calibri" pitchFamily="34" charset="-120"/>
              </a:rPr>
              <a:t>Returns curated job listings with apply links</a:t>
            </a:r>
            <a:endParaRPr lang="en-US" sz="1300" dirty="0"/>
          </a:p>
          <a:p>
            <a:pPr marL="342900" indent="-342900">
              <a:spcAft>
                <a:spcPts val="600"/>
              </a:spcAft>
              <a:buSzPct val="100000"/>
              <a:buChar char="•"/>
            </a:pPr>
            <a:r>
              <a:rPr lang="en-US" sz="1300" dirty="0">
                <a:solidFill>
                  <a:srgbClr val="C9D1D9"/>
                </a:solidFill>
                <a:latin typeface="Calibri" pitchFamily="34" charset="0"/>
                <a:ea typeface="Calibri" pitchFamily="34" charset="-122"/>
                <a:cs typeface="Calibri" pitchFamily="34" charset="-120"/>
              </a:rPr>
              <a:t>Runs on-demand — no manual browsing needed</a:t>
            </a:r>
            <a:endParaRPr lang="en-US" sz="1300" dirty="0"/>
          </a:p>
          <a:p>
            <a:pPr marL="342900" indent="-342900">
              <a:spcAft>
                <a:spcPts val="600"/>
              </a:spcAft>
              <a:buSzPct val="100000"/>
              <a:buChar char="•"/>
            </a:pPr>
            <a:r>
              <a:rPr lang="en-US" sz="1300" dirty="0">
                <a:solidFill>
                  <a:srgbClr val="C9D1D9"/>
                </a:solidFill>
                <a:latin typeface="Calibri" pitchFamily="34" charset="0"/>
                <a:ea typeface="Calibri" pitchFamily="34" charset="-122"/>
                <a:cs typeface="Calibri" pitchFamily="34" charset="-120"/>
              </a:rPr>
              <a:t>Scales easily across companies &amp; job boards</a:t>
            </a:r>
            <a:endParaRPr lang="en-US" sz="1300" dirty="0"/>
          </a:p>
        </p:txBody>
      </p:sp>
      <p:sp>
        <p:nvSpPr>
          <p:cNvPr id="8" name="Shape 6"/>
          <p:cNvSpPr/>
          <p:nvPr/>
        </p:nvSpPr>
        <p:spPr>
          <a:xfrm>
            <a:off x="6035040" y="1143000"/>
            <a:ext cx="2651760" cy="594360"/>
          </a:xfrm>
          <a:prstGeom prst="rect">
            <a:avLst/>
          </a:prstGeom>
          <a:solidFill>
            <a:srgbClr val="D2A8FF">
              <a:alpha val="20000"/>
            </a:srgbClr>
          </a:solidFill>
          <a:ln w="12700">
            <a:solidFill>
              <a:srgbClr val="D2A8FF"/>
            </a:solidFill>
            <a:prstDash val="solid"/>
          </a:ln>
          <a:effectLst>
            <a:outerShdw sx="100000" sy="100000" kx="0" ky="0" algn="bl" rotWithShape="0" blurRad="101600" dist="38100" dir="8100000">
              <a:srgbClr val="000000">
                <a:alpha val="30000"/>
              </a:srgbClr>
            </a:outerShdw>
          </a:effectLst>
        </p:spPr>
      </p:sp>
      <p:sp>
        <p:nvSpPr>
          <p:cNvPr id="9" name="Text 7"/>
          <p:cNvSpPr/>
          <p:nvPr/>
        </p:nvSpPr>
        <p:spPr>
          <a:xfrm>
            <a:off x="6035040" y="1143000"/>
            <a:ext cx="2651760" cy="594360"/>
          </a:xfrm>
          <a:prstGeom prst="rect">
            <a:avLst/>
          </a:prstGeom>
          <a:noFill/>
          <a:ln/>
        </p:spPr>
        <p:txBody>
          <a:bodyPr wrap="square" rtlCol="0" anchor="ctr"/>
          <a:lstStyle/>
          <a:p>
            <a:pPr algn="ctr" indent="0" marL="0">
              <a:buNone/>
            </a:pPr>
            <a:r>
              <a:rPr lang="en-US" sz="1400" b="1" dirty="0">
                <a:solidFill>
                  <a:srgbClr val="FFFFFF"/>
                </a:solidFill>
              </a:rPr>
              <a:t>Resume Input</a:t>
            </a:r>
            <a:endParaRPr lang="en-US" sz="1400" dirty="0"/>
          </a:p>
        </p:txBody>
      </p:sp>
      <p:sp>
        <p:nvSpPr>
          <p:cNvPr id="10" name="Shape 8"/>
          <p:cNvSpPr/>
          <p:nvPr/>
        </p:nvSpPr>
        <p:spPr>
          <a:xfrm>
            <a:off x="7223760" y="1737360"/>
            <a:ext cx="73152" cy="283464"/>
          </a:xfrm>
          <a:prstGeom prst="rect">
            <a:avLst/>
          </a:prstGeom>
          <a:solidFill>
            <a:srgbClr val="8B949E"/>
          </a:solidFill>
          <a:ln w="12700">
            <a:solidFill>
              <a:srgbClr val="8B949E"/>
            </a:solidFill>
            <a:prstDash val="solid"/>
          </a:ln>
        </p:spPr>
      </p:sp>
      <p:sp>
        <p:nvSpPr>
          <p:cNvPr id="11" name="Text 9"/>
          <p:cNvSpPr/>
          <p:nvPr/>
        </p:nvSpPr>
        <p:spPr>
          <a:xfrm>
            <a:off x="6995160" y="1947672"/>
            <a:ext cx="502920" cy="182880"/>
          </a:xfrm>
          <a:prstGeom prst="rect">
            <a:avLst/>
          </a:prstGeom>
          <a:noFill/>
          <a:ln/>
        </p:spPr>
        <p:txBody>
          <a:bodyPr wrap="square" rtlCol="0" anchor="ctr"/>
          <a:lstStyle/>
          <a:p>
            <a:pPr algn="ctr" indent="0" marL="0">
              <a:buNone/>
            </a:pPr>
            <a:r>
              <a:rPr lang="en-US" sz="1000" dirty="0">
                <a:solidFill>
                  <a:srgbClr val="8B949E"/>
                </a:solidFill>
              </a:rPr>
              <a:t>▼</a:t>
            </a:r>
            <a:endParaRPr lang="en-US" sz="1000" dirty="0"/>
          </a:p>
        </p:txBody>
      </p:sp>
      <p:sp>
        <p:nvSpPr>
          <p:cNvPr id="12" name="Shape 10"/>
          <p:cNvSpPr/>
          <p:nvPr/>
        </p:nvSpPr>
        <p:spPr>
          <a:xfrm>
            <a:off x="6035040" y="2020824"/>
            <a:ext cx="2651760" cy="594360"/>
          </a:xfrm>
          <a:prstGeom prst="rect">
            <a:avLst/>
          </a:prstGeom>
          <a:solidFill>
            <a:srgbClr val="58A6FF">
              <a:alpha val="20000"/>
            </a:srgbClr>
          </a:solidFill>
          <a:ln w="12700">
            <a:solidFill>
              <a:srgbClr val="58A6FF"/>
            </a:solidFill>
            <a:prstDash val="solid"/>
          </a:ln>
          <a:effectLst>
            <a:outerShdw sx="100000" sy="100000" kx="0" ky="0" algn="bl" rotWithShape="0" blurRad="101600" dist="38100" dir="8100000">
              <a:srgbClr val="000000">
                <a:alpha val="30000"/>
              </a:srgbClr>
            </a:outerShdw>
          </a:effectLst>
        </p:spPr>
      </p:sp>
      <p:sp>
        <p:nvSpPr>
          <p:cNvPr id="13" name="Text 11"/>
          <p:cNvSpPr/>
          <p:nvPr/>
        </p:nvSpPr>
        <p:spPr>
          <a:xfrm>
            <a:off x="6035040" y="2020824"/>
            <a:ext cx="2651760" cy="594360"/>
          </a:xfrm>
          <a:prstGeom prst="rect">
            <a:avLst/>
          </a:prstGeom>
          <a:noFill/>
          <a:ln/>
        </p:spPr>
        <p:txBody>
          <a:bodyPr wrap="square" rtlCol="0" anchor="ctr"/>
          <a:lstStyle/>
          <a:p>
            <a:pPr algn="ctr" indent="0" marL="0">
              <a:buNone/>
            </a:pPr>
            <a:r>
              <a:rPr lang="en-US" sz="1400" b="1" dirty="0">
                <a:solidFill>
                  <a:srgbClr val="FFFFFF"/>
                </a:solidFill>
              </a:rPr>
              <a:t>Claude AI</a:t>
            </a:r>
            <a:endParaRPr lang="en-US" sz="1400" dirty="0"/>
          </a:p>
        </p:txBody>
      </p:sp>
      <p:sp>
        <p:nvSpPr>
          <p:cNvPr id="14" name="Shape 12"/>
          <p:cNvSpPr/>
          <p:nvPr/>
        </p:nvSpPr>
        <p:spPr>
          <a:xfrm>
            <a:off x="7223760" y="2615184"/>
            <a:ext cx="73152" cy="283464"/>
          </a:xfrm>
          <a:prstGeom prst="rect">
            <a:avLst/>
          </a:prstGeom>
          <a:solidFill>
            <a:srgbClr val="8B949E"/>
          </a:solidFill>
          <a:ln w="12700">
            <a:solidFill>
              <a:srgbClr val="8B949E"/>
            </a:solidFill>
            <a:prstDash val="solid"/>
          </a:ln>
        </p:spPr>
      </p:sp>
      <p:sp>
        <p:nvSpPr>
          <p:cNvPr id="15" name="Text 13"/>
          <p:cNvSpPr/>
          <p:nvPr/>
        </p:nvSpPr>
        <p:spPr>
          <a:xfrm>
            <a:off x="6995160" y="2825496"/>
            <a:ext cx="502920" cy="182880"/>
          </a:xfrm>
          <a:prstGeom prst="rect">
            <a:avLst/>
          </a:prstGeom>
          <a:noFill/>
          <a:ln/>
        </p:spPr>
        <p:txBody>
          <a:bodyPr wrap="square" rtlCol="0" anchor="ctr"/>
          <a:lstStyle/>
          <a:p>
            <a:pPr algn="ctr" indent="0" marL="0">
              <a:buNone/>
            </a:pPr>
            <a:r>
              <a:rPr lang="en-US" sz="1000" dirty="0">
                <a:solidFill>
                  <a:srgbClr val="8B949E"/>
                </a:solidFill>
              </a:rPr>
              <a:t>▼</a:t>
            </a:r>
            <a:endParaRPr lang="en-US" sz="1000" dirty="0"/>
          </a:p>
        </p:txBody>
      </p:sp>
      <p:sp>
        <p:nvSpPr>
          <p:cNvPr id="16" name="Shape 14"/>
          <p:cNvSpPr/>
          <p:nvPr/>
        </p:nvSpPr>
        <p:spPr>
          <a:xfrm>
            <a:off x="6035040" y="2898648"/>
            <a:ext cx="2651760" cy="594360"/>
          </a:xfrm>
          <a:prstGeom prst="rect">
            <a:avLst/>
          </a:prstGeom>
          <a:solidFill>
            <a:srgbClr val="FFA657">
              <a:alpha val="20000"/>
            </a:srgbClr>
          </a:solidFill>
          <a:ln w="12700">
            <a:solidFill>
              <a:srgbClr val="FFA657"/>
            </a:solidFill>
            <a:prstDash val="solid"/>
          </a:ln>
          <a:effectLst>
            <a:outerShdw sx="100000" sy="100000" kx="0" ky="0" algn="bl" rotWithShape="0" blurRad="101600" dist="38100" dir="8100000">
              <a:srgbClr val="000000">
                <a:alpha val="30000"/>
              </a:srgbClr>
            </a:outerShdw>
          </a:effectLst>
        </p:spPr>
      </p:sp>
      <p:sp>
        <p:nvSpPr>
          <p:cNvPr id="17" name="Text 15"/>
          <p:cNvSpPr/>
          <p:nvPr/>
        </p:nvSpPr>
        <p:spPr>
          <a:xfrm>
            <a:off x="6035040" y="2898648"/>
            <a:ext cx="2651760" cy="594360"/>
          </a:xfrm>
          <a:prstGeom prst="rect">
            <a:avLst/>
          </a:prstGeom>
          <a:noFill/>
          <a:ln/>
        </p:spPr>
        <p:txBody>
          <a:bodyPr wrap="square" rtlCol="0" anchor="ctr"/>
          <a:lstStyle/>
          <a:p>
            <a:pPr algn="ctr" indent="0" marL="0">
              <a:buNone/>
            </a:pPr>
            <a:r>
              <a:rPr lang="en-US" sz="1400" b="1" dirty="0">
                <a:solidFill>
                  <a:srgbClr val="FFFFFF"/>
                </a:solidFill>
              </a:rPr>
              <a:t>Apify Scraper</a:t>
            </a:r>
            <a:endParaRPr lang="en-US" sz="1400" dirty="0"/>
          </a:p>
        </p:txBody>
      </p:sp>
      <p:sp>
        <p:nvSpPr>
          <p:cNvPr id="18" name="Shape 16"/>
          <p:cNvSpPr/>
          <p:nvPr/>
        </p:nvSpPr>
        <p:spPr>
          <a:xfrm>
            <a:off x="7223760" y="3493008"/>
            <a:ext cx="73152" cy="283464"/>
          </a:xfrm>
          <a:prstGeom prst="rect">
            <a:avLst/>
          </a:prstGeom>
          <a:solidFill>
            <a:srgbClr val="8B949E"/>
          </a:solidFill>
          <a:ln w="12700">
            <a:solidFill>
              <a:srgbClr val="8B949E"/>
            </a:solidFill>
            <a:prstDash val="solid"/>
          </a:ln>
        </p:spPr>
      </p:sp>
      <p:sp>
        <p:nvSpPr>
          <p:cNvPr id="19" name="Text 17"/>
          <p:cNvSpPr/>
          <p:nvPr/>
        </p:nvSpPr>
        <p:spPr>
          <a:xfrm>
            <a:off x="6995160" y="3703320"/>
            <a:ext cx="502920" cy="182880"/>
          </a:xfrm>
          <a:prstGeom prst="rect">
            <a:avLst/>
          </a:prstGeom>
          <a:noFill/>
          <a:ln/>
        </p:spPr>
        <p:txBody>
          <a:bodyPr wrap="square" rtlCol="0" anchor="ctr"/>
          <a:lstStyle/>
          <a:p>
            <a:pPr algn="ctr" indent="0" marL="0">
              <a:buNone/>
            </a:pPr>
            <a:r>
              <a:rPr lang="en-US" sz="1000" dirty="0">
                <a:solidFill>
                  <a:srgbClr val="8B949E"/>
                </a:solidFill>
              </a:rPr>
              <a:t>▼</a:t>
            </a:r>
            <a:endParaRPr lang="en-US" sz="1000" dirty="0"/>
          </a:p>
        </p:txBody>
      </p:sp>
      <p:sp>
        <p:nvSpPr>
          <p:cNvPr id="20" name="Shape 18"/>
          <p:cNvSpPr/>
          <p:nvPr/>
        </p:nvSpPr>
        <p:spPr>
          <a:xfrm>
            <a:off x="6035040" y="3776472"/>
            <a:ext cx="2651760" cy="594360"/>
          </a:xfrm>
          <a:prstGeom prst="rect">
            <a:avLst/>
          </a:prstGeom>
          <a:solidFill>
            <a:srgbClr val="3FB950">
              <a:alpha val="20000"/>
            </a:srgbClr>
          </a:solidFill>
          <a:ln w="12700">
            <a:solidFill>
              <a:srgbClr val="3FB950"/>
            </a:solidFill>
            <a:prstDash val="solid"/>
          </a:ln>
          <a:effectLst>
            <a:outerShdw sx="100000" sy="100000" kx="0" ky="0" algn="bl" rotWithShape="0" blurRad="101600" dist="38100" dir="8100000">
              <a:srgbClr val="000000">
                <a:alpha val="30000"/>
              </a:srgbClr>
            </a:outerShdw>
          </a:effectLst>
        </p:spPr>
      </p:sp>
      <p:sp>
        <p:nvSpPr>
          <p:cNvPr id="21" name="Text 19"/>
          <p:cNvSpPr/>
          <p:nvPr/>
        </p:nvSpPr>
        <p:spPr>
          <a:xfrm>
            <a:off x="6035040" y="3776472"/>
            <a:ext cx="2651760" cy="594360"/>
          </a:xfrm>
          <a:prstGeom prst="rect">
            <a:avLst/>
          </a:prstGeom>
          <a:noFill/>
          <a:ln/>
        </p:spPr>
        <p:txBody>
          <a:bodyPr wrap="square" rtlCol="0" anchor="ctr"/>
          <a:lstStyle/>
          <a:p>
            <a:pPr algn="ctr" indent="0" marL="0">
              <a:buNone/>
            </a:pPr>
            <a:r>
              <a:rPr lang="en-US" sz="1400" b="1" dirty="0">
                <a:solidFill>
                  <a:srgbClr val="FFFFFF"/>
                </a:solidFill>
              </a:rPr>
              <a:t>Filtered Jobs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2A8FF"/>
          </a:solidFill>
          <a:ln w="12700">
            <a:solidFill>
              <a:srgbClr val="D2A8FF"/>
            </a:solidFill>
            <a:prstDash val="solid"/>
          </a:ln>
        </p:spPr>
      </p:sp>
      <p:sp>
        <p:nvSpPr>
          <p:cNvPr id="3" name="Text 1"/>
          <p:cNvSpPr/>
          <p:nvPr/>
        </p:nvSpPr>
        <p:spPr>
          <a:xfrm>
            <a:off x="457200" y="182880"/>
            <a:ext cx="8229600" cy="45720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4" name="Text 2"/>
          <p:cNvSpPr/>
          <p:nvPr/>
        </p:nvSpPr>
        <p:spPr>
          <a:xfrm>
            <a:off x="457200" y="621792"/>
            <a:ext cx="8229600" cy="274320"/>
          </a:xfrm>
          <a:prstGeom prst="rect">
            <a:avLst/>
          </a:prstGeom>
          <a:noFill/>
          <a:ln/>
        </p:spPr>
        <p:txBody>
          <a:bodyPr wrap="square" rtlCol="0" anchor="ctr"/>
          <a:lstStyle/>
          <a:p>
            <a:pPr indent="0" marL="0">
              <a:buNone/>
            </a:pPr>
            <a:r>
              <a:rPr lang="en-US" sz="1200" i="1" dirty="0">
                <a:solidFill>
                  <a:srgbClr val="8B949E"/>
                </a:solidFill>
              </a:rPr>
              <a:t>End-to-end workflow diagram</a:t>
            </a:r>
            <a:endParaRPr lang="en-US" sz="1200" dirty="0"/>
          </a:p>
        </p:txBody>
      </p:sp>
      <p:sp>
        <p:nvSpPr>
          <p:cNvPr id="5" name="Shape 3"/>
          <p:cNvSpPr/>
          <p:nvPr/>
        </p:nvSpPr>
        <p:spPr>
          <a:xfrm>
            <a:off x="274320" y="1005840"/>
            <a:ext cx="1828800" cy="1005840"/>
          </a:xfrm>
          <a:prstGeom prst="rect">
            <a:avLst/>
          </a:prstGeom>
          <a:solidFill>
            <a:srgbClr val="21262D"/>
          </a:solidFill>
          <a:ln w="12700">
            <a:solidFill>
              <a:srgbClr val="D2A8FF"/>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274320" y="1005840"/>
            <a:ext cx="1828800" cy="54864"/>
          </a:xfrm>
          <a:prstGeom prst="rect">
            <a:avLst/>
          </a:prstGeom>
          <a:solidFill>
            <a:srgbClr val="D2A8FF"/>
          </a:solidFill>
          <a:ln w="12700">
            <a:solidFill>
              <a:srgbClr val="D2A8FF"/>
            </a:solidFill>
            <a:prstDash val="solid"/>
          </a:ln>
        </p:spPr>
      </p:sp>
      <p:sp>
        <p:nvSpPr>
          <p:cNvPr id="7" name="Text 5"/>
          <p:cNvSpPr/>
          <p:nvPr/>
        </p:nvSpPr>
        <p:spPr>
          <a:xfrm>
            <a:off x="274320" y="1097280"/>
            <a:ext cx="1828800" cy="411480"/>
          </a:xfrm>
          <a:prstGeom prst="rect">
            <a:avLst/>
          </a:prstGeom>
          <a:noFill/>
          <a:ln/>
        </p:spPr>
        <p:txBody>
          <a:bodyPr wrap="square" rtlCol="0" anchor="ctr"/>
          <a:lstStyle/>
          <a:p>
            <a:pPr algn="ctr" indent="0" marL="0">
              <a:buNone/>
            </a:pPr>
            <a:r>
              <a:rPr lang="en-US" sz="1400" b="1" dirty="0">
                <a:solidFill>
                  <a:srgbClr val="FFFFFF"/>
                </a:solidFill>
              </a:rPr>
              <a:t>📄 Resume</a:t>
            </a:r>
            <a:endParaRPr lang="en-US" sz="1400" dirty="0"/>
          </a:p>
        </p:txBody>
      </p:sp>
      <p:sp>
        <p:nvSpPr>
          <p:cNvPr id="8" name="Text 6"/>
          <p:cNvSpPr/>
          <p:nvPr/>
        </p:nvSpPr>
        <p:spPr>
          <a:xfrm>
            <a:off x="274320" y="1536192"/>
            <a:ext cx="1828800" cy="411480"/>
          </a:xfrm>
          <a:prstGeom prst="rect">
            <a:avLst/>
          </a:prstGeom>
          <a:noFill/>
          <a:ln/>
        </p:spPr>
        <p:txBody>
          <a:bodyPr wrap="square" rtlCol="0" anchor="ctr"/>
          <a:lstStyle/>
          <a:p>
            <a:pPr algn="ctr" indent="0" marL="0">
              <a:buNone/>
            </a:pPr>
            <a:r>
              <a:rPr lang="en-US" sz="950" dirty="0">
                <a:solidFill>
                  <a:srgbClr val="C9D1D9"/>
                </a:solidFill>
              </a:rPr>
              <a:t>User uploads resume</a:t>
            </a:r>
            <a:endParaRPr lang="en-US" sz="950" dirty="0"/>
          </a:p>
        </p:txBody>
      </p:sp>
      <p:sp>
        <p:nvSpPr>
          <p:cNvPr id="9" name="Shape 7"/>
          <p:cNvSpPr/>
          <p:nvPr/>
        </p:nvSpPr>
        <p:spPr>
          <a:xfrm>
            <a:off x="2103120" y="1481328"/>
            <a:ext cx="457200" cy="54864"/>
          </a:xfrm>
          <a:prstGeom prst="rect">
            <a:avLst/>
          </a:prstGeom>
          <a:solidFill>
            <a:srgbClr val="58A6FF">
              <a:alpha val="50000"/>
            </a:srgbClr>
          </a:solidFill>
          <a:ln w="12700">
            <a:solidFill>
              <a:srgbClr val="58A6FF">
                <a:alpha val="50000"/>
              </a:srgbClr>
            </a:solidFill>
            <a:prstDash val="solid"/>
          </a:ln>
        </p:spPr>
      </p:sp>
      <p:sp>
        <p:nvSpPr>
          <p:cNvPr id="10" name="Text 8"/>
          <p:cNvSpPr/>
          <p:nvPr/>
        </p:nvSpPr>
        <p:spPr>
          <a:xfrm>
            <a:off x="2468880" y="1353312"/>
            <a:ext cx="228600" cy="274320"/>
          </a:xfrm>
          <a:prstGeom prst="rect">
            <a:avLst/>
          </a:prstGeom>
          <a:noFill/>
          <a:ln/>
        </p:spPr>
        <p:txBody>
          <a:bodyPr wrap="square" rtlCol="0" anchor="ctr"/>
          <a:lstStyle/>
          <a:p>
            <a:pPr algn="ctr" indent="0" marL="0">
              <a:buNone/>
            </a:pPr>
            <a:r>
              <a:rPr lang="en-US" sz="1100" dirty="0">
                <a:solidFill>
                  <a:srgbClr val="58A6FF"/>
                </a:solidFill>
              </a:rPr>
              <a:t>▶</a:t>
            </a:r>
            <a:endParaRPr lang="en-US" sz="1100" dirty="0"/>
          </a:p>
        </p:txBody>
      </p:sp>
      <p:sp>
        <p:nvSpPr>
          <p:cNvPr id="11" name="Shape 9"/>
          <p:cNvSpPr/>
          <p:nvPr/>
        </p:nvSpPr>
        <p:spPr>
          <a:xfrm>
            <a:off x="2286000" y="1005840"/>
            <a:ext cx="1828800" cy="1005840"/>
          </a:xfrm>
          <a:prstGeom prst="rect">
            <a:avLst/>
          </a:prstGeom>
          <a:solidFill>
            <a:srgbClr val="21262D"/>
          </a:solidFill>
          <a:ln w="12700">
            <a:solidFill>
              <a:srgbClr val="58A6FF"/>
            </a:solidFill>
            <a:prstDash val="solid"/>
          </a:ln>
          <a:effectLst>
            <a:outerShdw sx="100000" sy="100000" kx="0" ky="0" algn="bl" rotWithShape="0" blurRad="101600" dist="38100" dir="8100000">
              <a:srgbClr val="000000">
                <a:alpha val="30000"/>
              </a:srgbClr>
            </a:outerShdw>
          </a:effectLst>
        </p:spPr>
      </p:sp>
      <p:sp>
        <p:nvSpPr>
          <p:cNvPr id="12" name="Shape 10"/>
          <p:cNvSpPr/>
          <p:nvPr/>
        </p:nvSpPr>
        <p:spPr>
          <a:xfrm>
            <a:off x="2286000" y="1005840"/>
            <a:ext cx="1828800" cy="54864"/>
          </a:xfrm>
          <a:prstGeom prst="rect">
            <a:avLst/>
          </a:prstGeom>
          <a:solidFill>
            <a:srgbClr val="58A6FF"/>
          </a:solidFill>
          <a:ln w="12700">
            <a:solidFill>
              <a:srgbClr val="58A6FF"/>
            </a:solidFill>
            <a:prstDash val="solid"/>
          </a:ln>
        </p:spPr>
      </p:sp>
      <p:sp>
        <p:nvSpPr>
          <p:cNvPr id="13" name="Text 11"/>
          <p:cNvSpPr/>
          <p:nvPr/>
        </p:nvSpPr>
        <p:spPr>
          <a:xfrm>
            <a:off x="2286000" y="1097280"/>
            <a:ext cx="1828800" cy="411480"/>
          </a:xfrm>
          <a:prstGeom prst="rect">
            <a:avLst/>
          </a:prstGeom>
          <a:noFill/>
          <a:ln/>
        </p:spPr>
        <p:txBody>
          <a:bodyPr wrap="square" rtlCol="0" anchor="ctr"/>
          <a:lstStyle/>
          <a:p>
            <a:pPr algn="ctr" indent="0" marL="0">
              <a:buNone/>
            </a:pPr>
            <a:r>
              <a:rPr lang="en-US" sz="1400" b="1" dirty="0">
                <a:solidFill>
                  <a:srgbClr val="FFFFFF"/>
                </a:solidFill>
              </a:rPr>
              <a:t>🤖 Claude AI</a:t>
            </a:r>
            <a:endParaRPr lang="en-US" sz="1400" dirty="0"/>
          </a:p>
        </p:txBody>
      </p:sp>
      <p:sp>
        <p:nvSpPr>
          <p:cNvPr id="14" name="Text 12"/>
          <p:cNvSpPr/>
          <p:nvPr/>
        </p:nvSpPr>
        <p:spPr>
          <a:xfrm>
            <a:off x="2286000" y="1536192"/>
            <a:ext cx="1828800" cy="411480"/>
          </a:xfrm>
          <a:prstGeom prst="rect">
            <a:avLst/>
          </a:prstGeom>
          <a:noFill/>
          <a:ln/>
        </p:spPr>
        <p:txBody>
          <a:bodyPr wrap="square" rtlCol="0" anchor="ctr"/>
          <a:lstStyle/>
          <a:p>
            <a:pPr algn="ctr" indent="0" marL="0">
              <a:buNone/>
            </a:pPr>
            <a:r>
              <a:rPr lang="en-US" sz="950" dirty="0">
                <a:solidFill>
                  <a:srgbClr val="C9D1D9"/>
                </a:solidFill>
              </a:rPr>
              <a:t>LLM processing &amp; prompt engineering</a:t>
            </a:r>
            <a:endParaRPr lang="en-US" sz="950" dirty="0"/>
          </a:p>
        </p:txBody>
      </p:sp>
      <p:sp>
        <p:nvSpPr>
          <p:cNvPr id="15" name="Shape 13"/>
          <p:cNvSpPr/>
          <p:nvPr/>
        </p:nvSpPr>
        <p:spPr>
          <a:xfrm>
            <a:off x="4114800" y="1481328"/>
            <a:ext cx="457200" cy="54864"/>
          </a:xfrm>
          <a:prstGeom prst="rect">
            <a:avLst/>
          </a:prstGeom>
          <a:solidFill>
            <a:srgbClr val="58A6FF">
              <a:alpha val="50000"/>
            </a:srgbClr>
          </a:solidFill>
          <a:ln w="12700">
            <a:solidFill>
              <a:srgbClr val="58A6FF">
                <a:alpha val="50000"/>
              </a:srgbClr>
            </a:solidFill>
            <a:prstDash val="solid"/>
          </a:ln>
        </p:spPr>
      </p:sp>
      <p:sp>
        <p:nvSpPr>
          <p:cNvPr id="16" name="Text 14"/>
          <p:cNvSpPr/>
          <p:nvPr/>
        </p:nvSpPr>
        <p:spPr>
          <a:xfrm>
            <a:off x="4480560" y="1353312"/>
            <a:ext cx="228600" cy="274320"/>
          </a:xfrm>
          <a:prstGeom prst="rect">
            <a:avLst/>
          </a:prstGeom>
          <a:noFill/>
          <a:ln/>
        </p:spPr>
        <p:txBody>
          <a:bodyPr wrap="square" rtlCol="0" anchor="ctr"/>
          <a:lstStyle/>
          <a:p>
            <a:pPr algn="ctr" indent="0" marL="0">
              <a:buNone/>
            </a:pPr>
            <a:r>
              <a:rPr lang="en-US" sz="1100" dirty="0">
                <a:solidFill>
                  <a:srgbClr val="58A6FF"/>
                </a:solidFill>
              </a:rPr>
              <a:t>▶</a:t>
            </a:r>
            <a:endParaRPr lang="en-US" sz="1100" dirty="0"/>
          </a:p>
        </p:txBody>
      </p:sp>
      <p:sp>
        <p:nvSpPr>
          <p:cNvPr id="17" name="Shape 15"/>
          <p:cNvSpPr/>
          <p:nvPr/>
        </p:nvSpPr>
        <p:spPr>
          <a:xfrm>
            <a:off x="4297680" y="1005840"/>
            <a:ext cx="1828800" cy="1005840"/>
          </a:xfrm>
          <a:prstGeom prst="rect">
            <a:avLst/>
          </a:prstGeom>
          <a:solidFill>
            <a:srgbClr val="21262D"/>
          </a:solidFill>
          <a:ln w="12700">
            <a:solidFill>
              <a:srgbClr val="FFA657"/>
            </a:solidFill>
            <a:prstDash val="solid"/>
          </a:ln>
          <a:effectLst>
            <a:outerShdw sx="100000" sy="100000" kx="0" ky="0" algn="bl" rotWithShape="0" blurRad="101600" dist="38100" dir="8100000">
              <a:srgbClr val="000000">
                <a:alpha val="30000"/>
              </a:srgbClr>
            </a:outerShdw>
          </a:effectLst>
        </p:spPr>
      </p:sp>
      <p:sp>
        <p:nvSpPr>
          <p:cNvPr id="18" name="Shape 16"/>
          <p:cNvSpPr/>
          <p:nvPr/>
        </p:nvSpPr>
        <p:spPr>
          <a:xfrm>
            <a:off x="4297680" y="1005840"/>
            <a:ext cx="1828800" cy="54864"/>
          </a:xfrm>
          <a:prstGeom prst="rect">
            <a:avLst/>
          </a:prstGeom>
          <a:solidFill>
            <a:srgbClr val="FFA657"/>
          </a:solidFill>
          <a:ln w="12700">
            <a:solidFill>
              <a:srgbClr val="FFA657"/>
            </a:solidFill>
            <a:prstDash val="solid"/>
          </a:ln>
        </p:spPr>
      </p:sp>
      <p:sp>
        <p:nvSpPr>
          <p:cNvPr id="19" name="Text 17"/>
          <p:cNvSpPr/>
          <p:nvPr/>
        </p:nvSpPr>
        <p:spPr>
          <a:xfrm>
            <a:off x="4297680" y="1097280"/>
            <a:ext cx="1828800" cy="411480"/>
          </a:xfrm>
          <a:prstGeom prst="rect">
            <a:avLst/>
          </a:prstGeom>
          <a:noFill/>
          <a:ln/>
        </p:spPr>
        <p:txBody>
          <a:bodyPr wrap="square" rtlCol="0" anchor="ctr"/>
          <a:lstStyle/>
          <a:p>
            <a:pPr algn="ctr" indent="0" marL="0">
              <a:buNone/>
            </a:pPr>
            <a:r>
              <a:rPr lang="en-US" sz="1400" b="1" dirty="0">
                <a:solidFill>
                  <a:srgbClr val="FFFFFF"/>
                </a:solidFill>
              </a:rPr>
              <a:t>🕷️ Apify API</a:t>
            </a:r>
            <a:endParaRPr lang="en-US" sz="1400" dirty="0"/>
          </a:p>
        </p:txBody>
      </p:sp>
      <p:sp>
        <p:nvSpPr>
          <p:cNvPr id="20" name="Text 18"/>
          <p:cNvSpPr/>
          <p:nvPr/>
        </p:nvSpPr>
        <p:spPr>
          <a:xfrm>
            <a:off x="4297680" y="1536192"/>
            <a:ext cx="1828800" cy="411480"/>
          </a:xfrm>
          <a:prstGeom prst="rect">
            <a:avLst/>
          </a:prstGeom>
          <a:noFill/>
          <a:ln/>
        </p:spPr>
        <p:txBody>
          <a:bodyPr wrap="square" rtlCol="0" anchor="ctr"/>
          <a:lstStyle/>
          <a:p>
            <a:pPr algn="ctr" indent="0" marL="0">
              <a:buNone/>
            </a:pPr>
            <a:r>
              <a:rPr lang="en-US" sz="950" dirty="0">
                <a:solidFill>
                  <a:srgbClr val="C9D1D9"/>
                </a:solidFill>
              </a:rPr>
              <a:t>Multi-platform web scraping</a:t>
            </a:r>
            <a:endParaRPr lang="en-US" sz="950" dirty="0"/>
          </a:p>
        </p:txBody>
      </p:sp>
      <p:sp>
        <p:nvSpPr>
          <p:cNvPr id="21" name="Shape 19"/>
          <p:cNvSpPr/>
          <p:nvPr/>
        </p:nvSpPr>
        <p:spPr>
          <a:xfrm>
            <a:off x="6126480" y="1481328"/>
            <a:ext cx="457200" cy="54864"/>
          </a:xfrm>
          <a:prstGeom prst="rect">
            <a:avLst/>
          </a:prstGeom>
          <a:solidFill>
            <a:srgbClr val="58A6FF">
              <a:alpha val="50000"/>
            </a:srgbClr>
          </a:solidFill>
          <a:ln w="12700">
            <a:solidFill>
              <a:srgbClr val="58A6FF">
                <a:alpha val="50000"/>
              </a:srgbClr>
            </a:solidFill>
            <a:prstDash val="solid"/>
          </a:ln>
        </p:spPr>
      </p:sp>
      <p:sp>
        <p:nvSpPr>
          <p:cNvPr id="22" name="Text 20"/>
          <p:cNvSpPr/>
          <p:nvPr/>
        </p:nvSpPr>
        <p:spPr>
          <a:xfrm>
            <a:off x="6492240" y="1353312"/>
            <a:ext cx="228600" cy="274320"/>
          </a:xfrm>
          <a:prstGeom prst="rect">
            <a:avLst/>
          </a:prstGeom>
          <a:noFill/>
          <a:ln/>
        </p:spPr>
        <p:txBody>
          <a:bodyPr wrap="square" rtlCol="0" anchor="ctr"/>
          <a:lstStyle/>
          <a:p>
            <a:pPr algn="ctr" indent="0" marL="0">
              <a:buNone/>
            </a:pPr>
            <a:r>
              <a:rPr lang="en-US" sz="1100" dirty="0">
                <a:solidFill>
                  <a:srgbClr val="58A6FF"/>
                </a:solidFill>
              </a:rPr>
              <a:t>▶</a:t>
            </a:r>
            <a:endParaRPr lang="en-US" sz="1100" dirty="0"/>
          </a:p>
        </p:txBody>
      </p:sp>
      <p:sp>
        <p:nvSpPr>
          <p:cNvPr id="23" name="Shape 21"/>
          <p:cNvSpPr/>
          <p:nvPr/>
        </p:nvSpPr>
        <p:spPr>
          <a:xfrm>
            <a:off x="6309360" y="1005840"/>
            <a:ext cx="1828800" cy="1005840"/>
          </a:xfrm>
          <a:prstGeom prst="rect">
            <a:avLst/>
          </a:prstGeom>
          <a:solidFill>
            <a:srgbClr val="21262D"/>
          </a:solidFill>
          <a:ln w="12700">
            <a:solidFill>
              <a:srgbClr val="8B949E"/>
            </a:solidFill>
            <a:prstDash val="solid"/>
          </a:ln>
          <a:effectLst>
            <a:outerShdw sx="100000" sy="100000" kx="0" ky="0" algn="bl" rotWithShape="0" blurRad="101600" dist="38100" dir="8100000">
              <a:srgbClr val="000000">
                <a:alpha val="30000"/>
              </a:srgbClr>
            </a:outerShdw>
          </a:effectLst>
        </p:spPr>
      </p:sp>
      <p:sp>
        <p:nvSpPr>
          <p:cNvPr id="24" name="Shape 22"/>
          <p:cNvSpPr/>
          <p:nvPr/>
        </p:nvSpPr>
        <p:spPr>
          <a:xfrm>
            <a:off x="6309360" y="1005840"/>
            <a:ext cx="1828800" cy="54864"/>
          </a:xfrm>
          <a:prstGeom prst="rect">
            <a:avLst/>
          </a:prstGeom>
          <a:solidFill>
            <a:srgbClr val="8B949E"/>
          </a:solidFill>
          <a:ln w="12700">
            <a:solidFill>
              <a:srgbClr val="8B949E"/>
            </a:solidFill>
            <a:prstDash val="solid"/>
          </a:ln>
        </p:spPr>
      </p:sp>
      <p:sp>
        <p:nvSpPr>
          <p:cNvPr id="25" name="Text 23"/>
          <p:cNvSpPr/>
          <p:nvPr/>
        </p:nvSpPr>
        <p:spPr>
          <a:xfrm>
            <a:off x="6309360" y="1097280"/>
            <a:ext cx="1828800" cy="411480"/>
          </a:xfrm>
          <a:prstGeom prst="rect">
            <a:avLst/>
          </a:prstGeom>
          <a:noFill/>
          <a:ln/>
        </p:spPr>
        <p:txBody>
          <a:bodyPr wrap="square" rtlCol="0" anchor="ctr"/>
          <a:lstStyle/>
          <a:p>
            <a:pPr algn="ctr" indent="0" marL="0">
              <a:buNone/>
            </a:pPr>
            <a:r>
              <a:rPr lang="en-US" sz="1400" b="1" dirty="0">
                <a:solidFill>
                  <a:srgbClr val="FFFFFF"/>
                </a:solidFill>
              </a:rPr>
              <a:t>📊 Raw Jobs</a:t>
            </a:r>
            <a:endParaRPr lang="en-US" sz="1400" dirty="0"/>
          </a:p>
        </p:txBody>
      </p:sp>
      <p:sp>
        <p:nvSpPr>
          <p:cNvPr id="26" name="Text 24"/>
          <p:cNvSpPr/>
          <p:nvPr/>
        </p:nvSpPr>
        <p:spPr>
          <a:xfrm>
            <a:off x="6309360" y="1536192"/>
            <a:ext cx="1828800" cy="411480"/>
          </a:xfrm>
          <a:prstGeom prst="rect">
            <a:avLst/>
          </a:prstGeom>
          <a:noFill/>
          <a:ln/>
        </p:spPr>
        <p:txBody>
          <a:bodyPr wrap="square" rtlCol="0" anchor="ctr"/>
          <a:lstStyle/>
          <a:p>
            <a:pPr algn="ctr" indent="0" marL="0">
              <a:buNone/>
            </a:pPr>
            <a:r>
              <a:rPr lang="en-US" sz="950" dirty="0">
                <a:solidFill>
                  <a:srgbClr val="C9D1D9"/>
                </a:solidFill>
              </a:rPr>
              <a:t>Unfiltered job listing data</a:t>
            </a:r>
            <a:endParaRPr lang="en-US" sz="950" dirty="0"/>
          </a:p>
        </p:txBody>
      </p:sp>
      <p:sp>
        <p:nvSpPr>
          <p:cNvPr id="27" name="Shape 25"/>
          <p:cNvSpPr/>
          <p:nvPr/>
        </p:nvSpPr>
        <p:spPr>
          <a:xfrm>
            <a:off x="4297680" y="2651760"/>
            <a:ext cx="1828800" cy="1005840"/>
          </a:xfrm>
          <a:prstGeom prst="rect">
            <a:avLst/>
          </a:prstGeom>
          <a:solidFill>
            <a:srgbClr val="21262D"/>
          </a:solidFill>
          <a:ln w="12700">
            <a:solidFill>
              <a:srgbClr val="58A6FF"/>
            </a:solidFill>
            <a:prstDash val="solid"/>
          </a:ln>
          <a:effectLst>
            <a:outerShdw sx="100000" sy="100000" kx="0" ky="0" algn="bl" rotWithShape="0" blurRad="101600" dist="38100" dir="8100000">
              <a:srgbClr val="000000">
                <a:alpha val="30000"/>
              </a:srgbClr>
            </a:outerShdw>
          </a:effectLst>
        </p:spPr>
      </p:sp>
      <p:sp>
        <p:nvSpPr>
          <p:cNvPr id="28" name="Shape 26"/>
          <p:cNvSpPr/>
          <p:nvPr/>
        </p:nvSpPr>
        <p:spPr>
          <a:xfrm>
            <a:off x="4297680" y="2651760"/>
            <a:ext cx="1828800" cy="54864"/>
          </a:xfrm>
          <a:prstGeom prst="rect">
            <a:avLst/>
          </a:prstGeom>
          <a:solidFill>
            <a:srgbClr val="58A6FF"/>
          </a:solidFill>
          <a:ln w="12700">
            <a:solidFill>
              <a:srgbClr val="58A6FF"/>
            </a:solidFill>
            <a:prstDash val="solid"/>
          </a:ln>
        </p:spPr>
      </p:sp>
      <p:sp>
        <p:nvSpPr>
          <p:cNvPr id="29" name="Text 27"/>
          <p:cNvSpPr/>
          <p:nvPr/>
        </p:nvSpPr>
        <p:spPr>
          <a:xfrm>
            <a:off x="4297680" y="2743200"/>
            <a:ext cx="1828800" cy="411480"/>
          </a:xfrm>
          <a:prstGeom prst="rect">
            <a:avLst/>
          </a:prstGeom>
          <a:noFill/>
          <a:ln/>
        </p:spPr>
        <p:txBody>
          <a:bodyPr wrap="square" rtlCol="0" anchor="ctr"/>
          <a:lstStyle/>
          <a:p>
            <a:pPr algn="ctr" indent="0" marL="0">
              <a:buNone/>
            </a:pPr>
            <a:r>
              <a:rPr lang="en-US" sz="1200" b="1" dirty="0">
                <a:solidFill>
                  <a:srgbClr val="FFFFFF"/>
                </a:solidFill>
              </a:rPr>
              <a:t>🔍 AI Matching</a:t>
            </a:r>
            <a:endParaRPr lang="en-US" sz="1200" dirty="0"/>
          </a:p>
        </p:txBody>
      </p:sp>
      <p:sp>
        <p:nvSpPr>
          <p:cNvPr id="30" name="Text 28"/>
          <p:cNvSpPr/>
          <p:nvPr/>
        </p:nvSpPr>
        <p:spPr>
          <a:xfrm>
            <a:off x="4297680" y="3182112"/>
            <a:ext cx="1828800" cy="411480"/>
          </a:xfrm>
          <a:prstGeom prst="rect">
            <a:avLst/>
          </a:prstGeom>
          <a:noFill/>
          <a:ln/>
        </p:spPr>
        <p:txBody>
          <a:bodyPr wrap="square" rtlCol="0" anchor="ctr"/>
          <a:lstStyle/>
          <a:p>
            <a:pPr algn="ctr" indent="0" marL="0">
              <a:buNone/>
            </a:pPr>
            <a:r>
              <a:rPr lang="en-US" sz="950" dirty="0">
                <a:solidFill>
                  <a:srgbClr val="C9D1D9"/>
                </a:solidFill>
              </a:rPr>
              <a:t>Resume vs. job description semantic similarity</a:t>
            </a:r>
            <a:endParaRPr lang="en-US" sz="950" dirty="0"/>
          </a:p>
        </p:txBody>
      </p:sp>
      <p:sp>
        <p:nvSpPr>
          <p:cNvPr id="31" name="Shape 29"/>
          <p:cNvSpPr/>
          <p:nvPr/>
        </p:nvSpPr>
        <p:spPr>
          <a:xfrm>
            <a:off x="6126480" y="3127248"/>
            <a:ext cx="457200" cy="54864"/>
          </a:xfrm>
          <a:prstGeom prst="rect">
            <a:avLst/>
          </a:prstGeom>
          <a:solidFill>
            <a:srgbClr val="3FB950">
              <a:alpha val="50000"/>
            </a:srgbClr>
          </a:solidFill>
          <a:ln w="12700">
            <a:solidFill>
              <a:srgbClr val="3FB950">
                <a:alpha val="50000"/>
              </a:srgbClr>
            </a:solidFill>
            <a:prstDash val="solid"/>
          </a:ln>
        </p:spPr>
      </p:sp>
      <p:sp>
        <p:nvSpPr>
          <p:cNvPr id="32" name="Text 30"/>
          <p:cNvSpPr/>
          <p:nvPr/>
        </p:nvSpPr>
        <p:spPr>
          <a:xfrm>
            <a:off x="6492240" y="2999232"/>
            <a:ext cx="228600" cy="274320"/>
          </a:xfrm>
          <a:prstGeom prst="rect">
            <a:avLst/>
          </a:prstGeom>
          <a:noFill/>
          <a:ln/>
        </p:spPr>
        <p:txBody>
          <a:bodyPr wrap="square" rtlCol="0" anchor="ctr"/>
          <a:lstStyle/>
          <a:p>
            <a:pPr algn="ctr" indent="0" marL="0">
              <a:buNone/>
            </a:pPr>
            <a:r>
              <a:rPr lang="en-US" sz="1100" dirty="0">
                <a:solidFill>
                  <a:srgbClr val="3FB950"/>
                </a:solidFill>
              </a:rPr>
              <a:t>▶</a:t>
            </a:r>
            <a:endParaRPr lang="en-US" sz="1100" dirty="0"/>
          </a:p>
        </p:txBody>
      </p:sp>
      <p:sp>
        <p:nvSpPr>
          <p:cNvPr id="33" name="Shape 31"/>
          <p:cNvSpPr/>
          <p:nvPr/>
        </p:nvSpPr>
        <p:spPr>
          <a:xfrm>
            <a:off x="6309360" y="2651760"/>
            <a:ext cx="1828800" cy="1005840"/>
          </a:xfrm>
          <a:prstGeom prst="rect">
            <a:avLst/>
          </a:prstGeom>
          <a:solidFill>
            <a:srgbClr val="21262D"/>
          </a:solidFill>
          <a:ln w="12700">
            <a:solidFill>
              <a:srgbClr val="3FB950"/>
            </a:solidFill>
            <a:prstDash val="solid"/>
          </a:ln>
          <a:effectLst>
            <a:outerShdw sx="100000" sy="100000" kx="0" ky="0" algn="bl" rotWithShape="0" blurRad="101600" dist="38100" dir="8100000">
              <a:srgbClr val="000000">
                <a:alpha val="30000"/>
              </a:srgbClr>
            </a:outerShdw>
          </a:effectLst>
        </p:spPr>
      </p:sp>
      <p:sp>
        <p:nvSpPr>
          <p:cNvPr id="34" name="Shape 32"/>
          <p:cNvSpPr/>
          <p:nvPr/>
        </p:nvSpPr>
        <p:spPr>
          <a:xfrm>
            <a:off x="6309360" y="2651760"/>
            <a:ext cx="1828800" cy="54864"/>
          </a:xfrm>
          <a:prstGeom prst="rect">
            <a:avLst/>
          </a:prstGeom>
          <a:solidFill>
            <a:srgbClr val="3FB950"/>
          </a:solidFill>
          <a:ln w="12700">
            <a:solidFill>
              <a:srgbClr val="3FB950"/>
            </a:solidFill>
            <a:prstDash val="solid"/>
          </a:ln>
        </p:spPr>
      </p:sp>
      <p:sp>
        <p:nvSpPr>
          <p:cNvPr id="35" name="Text 33"/>
          <p:cNvSpPr/>
          <p:nvPr/>
        </p:nvSpPr>
        <p:spPr>
          <a:xfrm>
            <a:off x="6309360" y="2743200"/>
            <a:ext cx="1828800" cy="411480"/>
          </a:xfrm>
          <a:prstGeom prst="rect">
            <a:avLst/>
          </a:prstGeom>
          <a:noFill/>
          <a:ln/>
        </p:spPr>
        <p:txBody>
          <a:bodyPr wrap="square" rtlCol="0" anchor="ctr"/>
          <a:lstStyle/>
          <a:p>
            <a:pPr algn="ctr" indent="0" marL="0">
              <a:buNone/>
            </a:pPr>
            <a:r>
              <a:rPr lang="en-US" sz="1200" b="1" dirty="0">
                <a:solidFill>
                  <a:srgbClr val="FFFFFF"/>
                </a:solidFill>
              </a:rPr>
              <a:t>✅ Filtered Results</a:t>
            </a:r>
            <a:endParaRPr lang="en-US" sz="1200" dirty="0"/>
          </a:p>
        </p:txBody>
      </p:sp>
      <p:sp>
        <p:nvSpPr>
          <p:cNvPr id="36" name="Text 34"/>
          <p:cNvSpPr/>
          <p:nvPr/>
        </p:nvSpPr>
        <p:spPr>
          <a:xfrm>
            <a:off x="6309360" y="3182112"/>
            <a:ext cx="1828800" cy="411480"/>
          </a:xfrm>
          <a:prstGeom prst="rect">
            <a:avLst/>
          </a:prstGeom>
          <a:noFill/>
          <a:ln/>
        </p:spPr>
        <p:txBody>
          <a:bodyPr wrap="square" rtlCol="0" anchor="ctr"/>
          <a:lstStyle/>
          <a:p>
            <a:pPr algn="ctr" indent="0" marL="0">
              <a:buNone/>
            </a:pPr>
            <a:r>
              <a:rPr lang="en-US" sz="950" dirty="0">
                <a:solidFill>
                  <a:srgbClr val="C9D1D9"/>
                </a:solidFill>
              </a:rPr>
              <a:t>Top relevant jobs with match score</a:t>
            </a:r>
            <a:endParaRPr lang="en-US" sz="950" dirty="0"/>
          </a:p>
        </p:txBody>
      </p:sp>
      <p:sp>
        <p:nvSpPr>
          <p:cNvPr id="37" name="Shape 35"/>
          <p:cNvSpPr/>
          <p:nvPr/>
        </p:nvSpPr>
        <p:spPr>
          <a:xfrm>
            <a:off x="7187184" y="2011680"/>
            <a:ext cx="54864" cy="640080"/>
          </a:xfrm>
          <a:prstGeom prst="rect">
            <a:avLst/>
          </a:prstGeom>
          <a:solidFill>
            <a:srgbClr val="8B949E">
              <a:alpha val="60000"/>
            </a:srgbClr>
          </a:solidFill>
          <a:ln w="12700">
            <a:solidFill>
              <a:srgbClr val="8B949E">
                <a:alpha val="60000"/>
              </a:srgbClr>
            </a:solidFill>
            <a:prstDash val="solid"/>
          </a:ln>
        </p:spPr>
      </p:sp>
      <p:sp>
        <p:nvSpPr>
          <p:cNvPr id="38" name="Text 36"/>
          <p:cNvSpPr/>
          <p:nvPr/>
        </p:nvSpPr>
        <p:spPr>
          <a:xfrm>
            <a:off x="6995160" y="2560320"/>
            <a:ext cx="502920" cy="182880"/>
          </a:xfrm>
          <a:prstGeom prst="rect">
            <a:avLst/>
          </a:prstGeom>
          <a:noFill/>
          <a:ln/>
        </p:spPr>
        <p:txBody>
          <a:bodyPr wrap="square" rtlCol="0" anchor="ctr"/>
          <a:lstStyle/>
          <a:p>
            <a:pPr algn="ctr" indent="0" marL="0">
              <a:buNone/>
            </a:pPr>
            <a:r>
              <a:rPr lang="en-US" sz="1000" dirty="0">
                <a:solidFill>
                  <a:srgbClr val="8B949E"/>
                </a:solidFill>
              </a:rPr>
              <a:t>▼</a:t>
            </a:r>
            <a:endParaRPr lang="en-US" sz="1000" dirty="0"/>
          </a:p>
        </p:txBody>
      </p:sp>
      <p:sp>
        <p:nvSpPr>
          <p:cNvPr id="39" name="Shape 37"/>
          <p:cNvSpPr/>
          <p:nvPr/>
        </p:nvSpPr>
        <p:spPr>
          <a:xfrm>
            <a:off x="7187184" y="3657600"/>
            <a:ext cx="54864" cy="365760"/>
          </a:xfrm>
          <a:prstGeom prst="rect">
            <a:avLst/>
          </a:prstGeom>
          <a:solidFill>
            <a:srgbClr val="3FB950">
              <a:alpha val="60000"/>
            </a:srgbClr>
          </a:solidFill>
          <a:ln w="12700">
            <a:solidFill>
              <a:srgbClr val="3FB950">
                <a:alpha val="60000"/>
              </a:srgbClr>
            </a:solidFill>
            <a:prstDash val="solid"/>
          </a:ln>
        </p:spPr>
      </p:sp>
      <p:sp>
        <p:nvSpPr>
          <p:cNvPr id="40" name="Shape 38"/>
          <p:cNvSpPr/>
          <p:nvPr/>
        </p:nvSpPr>
        <p:spPr>
          <a:xfrm>
            <a:off x="274320" y="3840480"/>
            <a:ext cx="8595360" cy="731520"/>
          </a:xfrm>
          <a:prstGeom prst="rect">
            <a:avLst/>
          </a:prstGeom>
          <a:solidFill>
            <a:srgbClr val="21262D"/>
          </a:solidFill>
          <a:ln w="12700">
            <a:solidFill>
              <a:srgbClr val="3FB950">
                <a:alpha val="50000"/>
              </a:srgbClr>
            </a:solidFill>
            <a:prstDash val="solid"/>
          </a:ln>
          <a:effectLst>
            <a:outerShdw sx="100000" sy="100000" kx="0" ky="0" algn="bl" rotWithShape="0" blurRad="101600" dist="38100" dir="8100000">
              <a:srgbClr val="000000">
                <a:alpha val="30000"/>
              </a:srgbClr>
            </a:outerShdw>
          </a:effectLst>
        </p:spPr>
      </p:sp>
      <p:sp>
        <p:nvSpPr>
          <p:cNvPr id="41" name="Text 39"/>
          <p:cNvSpPr/>
          <p:nvPr/>
        </p:nvSpPr>
        <p:spPr>
          <a:xfrm>
            <a:off x="365760" y="3840480"/>
            <a:ext cx="8412480" cy="731520"/>
          </a:xfrm>
          <a:prstGeom prst="rect">
            <a:avLst/>
          </a:prstGeom>
          <a:noFill/>
          <a:ln/>
        </p:spPr>
        <p:txBody>
          <a:bodyPr wrap="square" rtlCol="0" anchor="ctr"/>
          <a:lstStyle/>
          <a:p>
            <a:pPr algn="ctr" indent="0" marL="0">
              <a:buNone/>
            </a:pPr>
            <a:r>
              <a:rPr lang="en-US" sz="1300" b="1" dirty="0">
                <a:solidFill>
                  <a:srgbClr val="FFFFFF"/>
                </a:solidFill>
              </a:rPr>
              <a:t>🎯  OUTPUT: Curated job list with titles, companies, descriptions, match score &amp; direct application links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3000" b="1" dirty="0">
                <a:solidFill>
                  <a:srgbClr val="FFFFFF"/>
                </a:solidFill>
              </a:rPr>
              <a:t>Tools &amp; Technologies</a:t>
            </a:r>
            <a:endParaRPr lang="en-US" sz="3000" dirty="0"/>
          </a:p>
        </p:txBody>
      </p:sp>
      <p:sp>
        <p:nvSpPr>
          <p:cNvPr id="4" name="Shape 2"/>
          <p:cNvSpPr/>
          <p:nvPr/>
        </p:nvSpPr>
        <p:spPr>
          <a:xfrm>
            <a:off x="365760" y="960120"/>
            <a:ext cx="4206240" cy="1691640"/>
          </a:xfrm>
          <a:prstGeom prst="rect">
            <a:avLst/>
          </a:prstGeom>
          <a:solidFill>
            <a:srgbClr val="21262D"/>
          </a:solidFill>
          <a:ln w="12700">
            <a:solidFill>
              <a:srgbClr val="58A6FF">
                <a:alpha val="35000"/>
              </a:srgbClr>
            </a:solidFill>
            <a:prstDash val="solid"/>
          </a:ln>
          <a:effectLst>
            <a:outerShdw sx="100000" sy="100000" kx="0" ky="0" algn="bl" rotWithShape="0" blurRad="101600" dist="38100" dir="8100000">
              <a:srgbClr val="000000">
                <a:alpha val="30000"/>
              </a:srgbClr>
            </a:outerShdw>
          </a:effectLst>
        </p:spPr>
      </p:sp>
      <p:pic>
        <p:nvPicPr>
          <p:cNvPr id="5" name="Image 0" descr="preencoded.png">    </p:cNvPr>
          <p:cNvPicPr>
            <a:picLocks noChangeAspect="1"/>
          </p:cNvPicPr>
          <p:nvPr/>
        </p:nvPicPr>
        <p:blipFill>
          <a:blip r:embed="rId1"/>
          <a:stretch>
            <a:fillRect/>
          </a:stretch>
        </p:blipFill>
        <p:spPr>
          <a:xfrm>
            <a:off x="548640" y="1188720"/>
            <a:ext cx="502920" cy="502920"/>
          </a:xfrm>
          <a:prstGeom prst="rect">
            <a:avLst/>
          </a:prstGeom>
        </p:spPr>
      </p:pic>
      <p:sp>
        <p:nvSpPr>
          <p:cNvPr id="6" name="Text 3"/>
          <p:cNvSpPr/>
          <p:nvPr/>
        </p:nvSpPr>
        <p:spPr>
          <a:xfrm>
            <a:off x="1188720" y="1051560"/>
            <a:ext cx="3200400" cy="365760"/>
          </a:xfrm>
          <a:prstGeom prst="rect">
            <a:avLst/>
          </a:prstGeom>
          <a:noFill/>
          <a:ln/>
        </p:spPr>
        <p:txBody>
          <a:bodyPr wrap="square" rtlCol="0" anchor="ctr"/>
          <a:lstStyle/>
          <a:p>
            <a:pPr indent="0" marL="0">
              <a:buNone/>
            </a:pPr>
            <a:r>
              <a:rPr lang="en-US" sz="1600" b="1" dirty="0">
                <a:solidFill>
                  <a:srgbClr val="FFFFFF"/>
                </a:solidFill>
              </a:rPr>
              <a:t>Claude AI</a:t>
            </a:r>
            <a:endParaRPr lang="en-US" sz="1600" dirty="0"/>
          </a:p>
        </p:txBody>
      </p:sp>
      <p:sp>
        <p:nvSpPr>
          <p:cNvPr id="7" name="Text 4"/>
          <p:cNvSpPr/>
          <p:nvPr/>
        </p:nvSpPr>
        <p:spPr>
          <a:xfrm>
            <a:off x="1188720" y="1399032"/>
            <a:ext cx="3200400" cy="274320"/>
          </a:xfrm>
          <a:prstGeom prst="rect">
            <a:avLst/>
          </a:prstGeom>
          <a:noFill/>
          <a:ln/>
        </p:spPr>
        <p:txBody>
          <a:bodyPr wrap="square" rtlCol="0" anchor="ctr"/>
          <a:lstStyle/>
          <a:p>
            <a:pPr indent="0" marL="0">
              <a:buNone/>
            </a:pPr>
            <a:r>
              <a:rPr lang="en-US" sz="1100" i="1" dirty="0">
                <a:solidFill>
                  <a:srgbClr val="58A6FF"/>
                </a:solidFill>
              </a:rPr>
              <a:t>Large Language Model</a:t>
            </a:r>
            <a:endParaRPr lang="en-US" sz="1100" dirty="0"/>
          </a:p>
        </p:txBody>
      </p:sp>
      <p:sp>
        <p:nvSpPr>
          <p:cNvPr id="8" name="Text 5"/>
          <p:cNvSpPr/>
          <p:nvPr/>
        </p:nvSpPr>
        <p:spPr>
          <a:xfrm>
            <a:off x="548640" y="1764792"/>
            <a:ext cx="3840480" cy="777240"/>
          </a:xfrm>
          <a:prstGeom prst="rect">
            <a:avLst/>
          </a:prstGeom>
          <a:noFill/>
          <a:ln/>
        </p:spPr>
        <p:txBody>
          <a:bodyPr wrap="square" rtlCol="0" anchor="ctr"/>
          <a:lstStyle/>
          <a:p>
            <a:pPr indent="0" marL="0">
              <a:buNone/>
            </a:pPr>
            <a:r>
              <a:rPr lang="en-US" sz="1150" dirty="0">
                <a:solidFill>
                  <a:srgbClr val="C9D1D9"/>
                </a:solidFill>
              </a:rPr>
              <a:t>Semantic understanding, prompt engineering, and resume-job matching logic</a:t>
            </a:r>
            <a:endParaRPr lang="en-US" sz="1150" dirty="0"/>
          </a:p>
        </p:txBody>
      </p:sp>
      <p:sp>
        <p:nvSpPr>
          <p:cNvPr id="9" name="Shape 6"/>
          <p:cNvSpPr/>
          <p:nvPr/>
        </p:nvSpPr>
        <p:spPr>
          <a:xfrm>
            <a:off x="4754880" y="960120"/>
            <a:ext cx="4206240" cy="1691640"/>
          </a:xfrm>
          <a:prstGeom prst="rect">
            <a:avLst/>
          </a:prstGeom>
          <a:solidFill>
            <a:srgbClr val="21262D"/>
          </a:solidFill>
          <a:ln w="12700">
            <a:solidFill>
              <a:srgbClr val="FFA657">
                <a:alpha val="35000"/>
              </a:srgbClr>
            </a:solidFill>
            <a:prstDash val="solid"/>
          </a:ln>
          <a:effectLst>
            <a:outerShdw sx="100000" sy="100000" kx="0" ky="0" algn="bl" rotWithShape="0" blurRad="101600" dist="38100" dir="8100000">
              <a:srgbClr val="000000">
                <a:alpha val="30000"/>
              </a:srgbClr>
            </a:outerShdw>
          </a:effectLst>
        </p:spPr>
      </p:sp>
      <p:pic>
        <p:nvPicPr>
          <p:cNvPr id="10" name="Image 1" descr="preencoded.png">    </p:cNvPr>
          <p:cNvPicPr>
            <a:picLocks noChangeAspect="1"/>
          </p:cNvPicPr>
          <p:nvPr/>
        </p:nvPicPr>
        <p:blipFill>
          <a:blip r:embed="rId2"/>
          <a:stretch>
            <a:fillRect/>
          </a:stretch>
        </p:blipFill>
        <p:spPr>
          <a:xfrm>
            <a:off x="4937760" y="1188720"/>
            <a:ext cx="502920" cy="502920"/>
          </a:xfrm>
          <a:prstGeom prst="rect">
            <a:avLst/>
          </a:prstGeom>
        </p:spPr>
      </p:pic>
      <p:sp>
        <p:nvSpPr>
          <p:cNvPr id="11" name="Text 7"/>
          <p:cNvSpPr/>
          <p:nvPr/>
        </p:nvSpPr>
        <p:spPr>
          <a:xfrm>
            <a:off x="5577840" y="1051560"/>
            <a:ext cx="3200400" cy="365760"/>
          </a:xfrm>
          <a:prstGeom prst="rect">
            <a:avLst/>
          </a:prstGeom>
          <a:noFill/>
          <a:ln/>
        </p:spPr>
        <p:txBody>
          <a:bodyPr wrap="square" rtlCol="0" anchor="ctr"/>
          <a:lstStyle/>
          <a:p>
            <a:pPr indent="0" marL="0">
              <a:buNone/>
            </a:pPr>
            <a:r>
              <a:rPr lang="en-US" sz="1600" b="1" dirty="0">
                <a:solidFill>
                  <a:srgbClr val="FFFFFF"/>
                </a:solidFill>
              </a:rPr>
              <a:t>Apify API</a:t>
            </a:r>
            <a:endParaRPr lang="en-US" sz="1600" dirty="0"/>
          </a:p>
        </p:txBody>
      </p:sp>
      <p:sp>
        <p:nvSpPr>
          <p:cNvPr id="12" name="Text 8"/>
          <p:cNvSpPr/>
          <p:nvPr/>
        </p:nvSpPr>
        <p:spPr>
          <a:xfrm>
            <a:off x="5577840" y="1399032"/>
            <a:ext cx="3200400" cy="274320"/>
          </a:xfrm>
          <a:prstGeom prst="rect">
            <a:avLst/>
          </a:prstGeom>
          <a:noFill/>
          <a:ln/>
        </p:spPr>
        <p:txBody>
          <a:bodyPr wrap="square" rtlCol="0" anchor="ctr"/>
          <a:lstStyle/>
          <a:p>
            <a:pPr indent="0" marL="0">
              <a:buNone/>
            </a:pPr>
            <a:r>
              <a:rPr lang="en-US" sz="1100" i="1" dirty="0">
                <a:solidFill>
                  <a:srgbClr val="FFA657"/>
                </a:solidFill>
              </a:rPr>
              <a:t>Web Scraping Platform</a:t>
            </a:r>
            <a:endParaRPr lang="en-US" sz="1100" dirty="0"/>
          </a:p>
        </p:txBody>
      </p:sp>
      <p:sp>
        <p:nvSpPr>
          <p:cNvPr id="13" name="Text 9"/>
          <p:cNvSpPr/>
          <p:nvPr/>
        </p:nvSpPr>
        <p:spPr>
          <a:xfrm>
            <a:off x="4937760" y="1764792"/>
            <a:ext cx="3840480" cy="777240"/>
          </a:xfrm>
          <a:prstGeom prst="rect">
            <a:avLst/>
          </a:prstGeom>
          <a:noFill/>
          <a:ln/>
        </p:spPr>
        <p:txBody>
          <a:bodyPr wrap="square" rtlCol="0" anchor="ctr"/>
          <a:lstStyle/>
          <a:p>
            <a:pPr indent="0" marL="0">
              <a:buNone/>
            </a:pPr>
            <a:r>
              <a:rPr lang="en-US" sz="1150" dirty="0">
                <a:solidFill>
                  <a:srgbClr val="C9D1D9"/>
                </a:solidFill>
              </a:rPr>
              <a:t>Scalable web scraping of LinkedIn, Indeed, Glassdoor, and company career pages</a:t>
            </a:r>
            <a:endParaRPr lang="en-US" sz="1150" dirty="0"/>
          </a:p>
        </p:txBody>
      </p:sp>
      <p:sp>
        <p:nvSpPr>
          <p:cNvPr id="14" name="Shape 10"/>
          <p:cNvSpPr/>
          <p:nvPr/>
        </p:nvSpPr>
        <p:spPr>
          <a:xfrm>
            <a:off x="365760" y="2880360"/>
            <a:ext cx="4206240" cy="1691640"/>
          </a:xfrm>
          <a:prstGeom prst="rect">
            <a:avLst/>
          </a:prstGeom>
          <a:solidFill>
            <a:srgbClr val="21262D"/>
          </a:solidFill>
          <a:ln w="12700">
            <a:solidFill>
              <a:srgbClr val="D2A8FF">
                <a:alpha val="35000"/>
              </a:srgbClr>
            </a:solidFill>
            <a:prstDash val="solid"/>
          </a:ln>
          <a:effectLst>
            <a:outerShdw sx="100000" sy="100000" kx="0" ky="0" algn="bl" rotWithShape="0" blurRad="101600" dist="38100" dir="8100000">
              <a:srgbClr val="000000">
                <a:alpha val="30000"/>
              </a:srgbClr>
            </a:outerShdw>
          </a:effectLst>
        </p:spPr>
      </p:sp>
      <p:pic>
        <p:nvPicPr>
          <p:cNvPr id="15" name="Image 2" descr="preencoded.png">    </p:cNvPr>
          <p:cNvPicPr>
            <a:picLocks noChangeAspect="1"/>
          </p:cNvPicPr>
          <p:nvPr/>
        </p:nvPicPr>
        <p:blipFill>
          <a:blip r:embed="rId3"/>
          <a:stretch>
            <a:fillRect/>
          </a:stretch>
        </p:blipFill>
        <p:spPr>
          <a:xfrm>
            <a:off x="548640" y="3108960"/>
            <a:ext cx="502920" cy="502920"/>
          </a:xfrm>
          <a:prstGeom prst="rect">
            <a:avLst/>
          </a:prstGeom>
        </p:spPr>
      </p:pic>
      <p:sp>
        <p:nvSpPr>
          <p:cNvPr id="16" name="Text 11"/>
          <p:cNvSpPr/>
          <p:nvPr/>
        </p:nvSpPr>
        <p:spPr>
          <a:xfrm>
            <a:off x="1188720" y="2971800"/>
            <a:ext cx="3200400" cy="365760"/>
          </a:xfrm>
          <a:prstGeom prst="rect">
            <a:avLst/>
          </a:prstGeom>
          <a:noFill/>
          <a:ln/>
        </p:spPr>
        <p:txBody>
          <a:bodyPr wrap="square" rtlCol="0" anchor="ctr"/>
          <a:lstStyle/>
          <a:p>
            <a:pPr indent="0" marL="0">
              <a:buNone/>
            </a:pPr>
            <a:r>
              <a:rPr lang="en-US" sz="1600" b="1" dirty="0">
                <a:solidFill>
                  <a:srgbClr val="FFFFFF"/>
                </a:solidFill>
              </a:rPr>
              <a:t>Prompt Engineering</a:t>
            </a:r>
            <a:endParaRPr lang="en-US" sz="1600" dirty="0"/>
          </a:p>
        </p:txBody>
      </p:sp>
      <p:sp>
        <p:nvSpPr>
          <p:cNvPr id="17" name="Text 12"/>
          <p:cNvSpPr/>
          <p:nvPr/>
        </p:nvSpPr>
        <p:spPr>
          <a:xfrm>
            <a:off x="1188720" y="3319272"/>
            <a:ext cx="3200400" cy="274320"/>
          </a:xfrm>
          <a:prstGeom prst="rect">
            <a:avLst/>
          </a:prstGeom>
          <a:noFill/>
          <a:ln/>
        </p:spPr>
        <p:txBody>
          <a:bodyPr wrap="square" rtlCol="0" anchor="ctr"/>
          <a:lstStyle/>
          <a:p>
            <a:pPr indent="0" marL="0">
              <a:buNone/>
            </a:pPr>
            <a:r>
              <a:rPr lang="en-US" sz="1100" i="1" dirty="0">
                <a:solidFill>
                  <a:srgbClr val="D2A8FF"/>
                </a:solidFill>
              </a:rPr>
              <a:t>Interaction Design</a:t>
            </a:r>
            <a:endParaRPr lang="en-US" sz="1100" dirty="0"/>
          </a:p>
        </p:txBody>
      </p:sp>
      <p:sp>
        <p:nvSpPr>
          <p:cNvPr id="18" name="Text 13"/>
          <p:cNvSpPr/>
          <p:nvPr/>
        </p:nvSpPr>
        <p:spPr>
          <a:xfrm>
            <a:off x="548640" y="3685032"/>
            <a:ext cx="3840480" cy="777240"/>
          </a:xfrm>
          <a:prstGeom prst="rect">
            <a:avLst/>
          </a:prstGeom>
          <a:noFill/>
          <a:ln/>
        </p:spPr>
        <p:txBody>
          <a:bodyPr wrap="square" rtlCol="0" anchor="ctr"/>
          <a:lstStyle/>
          <a:p>
            <a:pPr indent="0" marL="0">
              <a:buNone/>
            </a:pPr>
            <a:r>
              <a:rPr lang="en-US" sz="1150" dirty="0">
                <a:solidFill>
                  <a:srgbClr val="C9D1D9"/>
                </a:solidFill>
              </a:rPr>
              <a:t>Structured prompts guiding Claude to extract and rank job data semantically</a:t>
            </a:r>
            <a:endParaRPr lang="en-US" sz="1150" dirty="0"/>
          </a:p>
        </p:txBody>
      </p:sp>
      <p:sp>
        <p:nvSpPr>
          <p:cNvPr id="19" name="Shape 14"/>
          <p:cNvSpPr/>
          <p:nvPr/>
        </p:nvSpPr>
        <p:spPr>
          <a:xfrm>
            <a:off x="4754880" y="2880360"/>
            <a:ext cx="4206240" cy="1691640"/>
          </a:xfrm>
          <a:prstGeom prst="rect">
            <a:avLst/>
          </a:prstGeom>
          <a:solidFill>
            <a:srgbClr val="21262D"/>
          </a:solidFill>
          <a:ln w="12700">
            <a:solidFill>
              <a:srgbClr val="3FB950">
                <a:alpha val="35000"/>
              </a:srgbClr>
            </a:solidFill>
            <a:prstDash val="solid"/>
          </a:ln>
          <a:effectLst>
            <a:outerShdw sx="100000" sy="100000" kx="0" ky="0" algn="bl" rotWithShape="0" blurRad="101600" dist="38100" dir="8100000">
              <a:srgbClr val="000000">
                <a:alpha val="30000"/>
              </a:srgbClr>
            </a:outerShdw>
          </a:effectLst>
        </p:spPr>
      </p:sp>
      <p:pic>
        <p:nvPicPr>
          <p:cNvPr id="20" name="Image 3" descr="preencoded.png">    </p:cNvPr>
          <p:cNvPicPr>
            <a:picLocks noChangeAspect="1"/>
          </p:cNvPicPr>
          <p:nvPr/>
        </p:nvPicPr>
        <p:blipFill>
          <a:blip r:embed="rId4"/>
          <a:stretch>
            <a:fillRect/>
          </a:stretch>
        </p:blipFill>
        <p:spPr>
          <a:xfrm>
            <a:off x="4937760" y="3108960"/>
            <a:ext cx="502920" cy="502920"/>
          </a:xfrm>
          <a:prstGeom prst="rect">
            <a:avLst/>
          </a:prstGeom>
        </p:spPr>
      </p:pic>
      <p:sp>
        <p:nvSpPr>
          <p:cNvPr id="21" name="Text 15"/>
          <p:cNvSpPr/>
          <p:nvPr/>
        </p:nvSpPr>
        <p:spPr>
          <a:xfrm>
            <a:off x="5577840" y="2971800"/>
            <a:ext cx="3200400" cy="365760"/>
          </a:xfrm>
          <a:prstGeom prst="rect">
            <a:avLst/>
          </a:prstGeom>
          <a:noFill/>
          <a:ln/>
        </p:spPr>
        <p:txBody>
          <a:bodyPr wrap="square" rtlCol="0" anchor="ctr"/>
          <a:lstStyle/>
          <a:p>
            <a:pPr indent="0" marL="0">
              <a:buNone/>
            </a:pPr>
            <a:r>
              <a:rPr lang="en-US" sz="1600" b="1" dirty="0">
                <a:solidFill>
                  <a:srgbClr val="FFFFFF"/>
                </a:solidFill>
              </a:rPr>
              <a:t>JSON / API</a:t>
            </a:r>
            <a:endParaRPr lang="en-US" sz="1600" dirty="0"/>
          </a:p>
        </p:txBody>
      </p:sp>
      <p:sp>
        <p:nvSpPr>
          <p:cNvPr id="22" name="Text 16"/>
          <p:cNvSpPr/>
          <p:nvPr/>
        </p:nvSpPr>
        <p:spPr>
          <a:xfrm>
            <a:off x="5577840" y="3319272"/>
            <a:ext cx="3200400" cy="274320"/>
          </a:xfrm>
          <a:prstGeom prst="rect">
            <a:avLst/>
          </a:prstGeom>
          <a:noFill/>
          <a:ln/>
        </p:spPr>
        <p:txBody>
          <a:bodyPr wrap="square" rtlCol="0" anchor="ctr"/>
          <a:lstStyle/>
          <a:p>
            <a:pPr indent="0" marL="0">
              <a:buNone/>
            </a:pPr>
            <a:r>
              <a:rPr lang="en-US" sz="1100" i="1" dirty="0">
                <a:solidFill>
                  <a:srgbClr val="3FB950"/>
                </a:solidFill>
              </a:rPr>
              <a:t>Data Integration</a:t>
            </a:r>
            <a:endParaRPr lang="en-US" sz="1100" dirty="0"/>
          </a:p>
        </p:txBody>
      </p:sp>
      <p:sp>
        <p:nvSpPr>
          <p:cNvPr id="23" name="Text 17"/>
          <p:cNvSpPr/>
          <p:nvPr/>
        </p:nvSpPr>
        <p:spPr>
          <a:xfrm>
            <a:off x="4937760" y="3685032"/>
            <a:ext cx="3840480" cy="777240"/>
          </a:xfrm>
          <a:prstGeom prst="rect">
            <a:avLst/>
          </a:prstGeom>
          <a:noFill/>
          <a:ln/>
        </p:spPr>
        <p:txBody>
          <a:bodyPr wrap="square" rtlCol="0" anchor="ctr"/>
          <a:lstStyle/>
          <a:p>
            <a:pPr indent="0" marL="0">
              <a:buNone/>
            </a:pPr>
            <a:r>
              <a:rPr lang="en-US" sz="1150" dirty="0">
                <a:solidFill>
                  <a:srgbClr val="C9D1D9"/>
                </a:solidFill>
              </a:rPr>
              <a:t>REST API calls, structured JSON responses, and API key authentication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A657"/>
          </a:solidFill>
          <a:ln w="12700">
            <a:solidFill>
              <a:srgbClr val="FFA657"/>
            </a:solidFill>
            <a:prstDash val="solid"/>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3000" b="1" dirty="0">
                <a:solidFill>
                  <a:srgbClr val="FFFFFF"/>
                </a:solidFill>
              </a:rPr>
              <a:t>Implementation Steps</a:t>
            </a:r>
            <a:endParaRPr lang="en-US" sz="3000" dirty="0"/>
          </a:p>
        </p:txBody>
      </p:sp>
      <p:sp>
        <p:nvSpPr>
          <p:cNvPr id="4" name="Shape 2"/>
          <p:cNvSpPr/>
          <p:nvPr/>
        </p:nvSpPr>
        <p:spPr>
          <a:xfrm>
            <a:off x="274320" y="868680"/>
            <a:ext cx="4206240" cy="868680"/>
          </a:xfrm>
          <a:prstGeom prst="rect">
            <a:avLst/>
          </a:prstGeom>
          <a:solidFill>
            <a:srgbClr val="21262D"/>
          </a:solidFill>
          <a:ln w="12700">
            <a:solidFill>
              <a:srgbClr val="FFA657">
                <a:alpha val="22000"/>
              </a:srgbClr>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274320" y="868680"/>
            <a:ext cx="502920" cy="868680"/>
          </a:xfrm>
          <a:prstGeom prst="rect">
            <a:avLst/>
          </a:prstGeom>
          <a:solidFill>
            <a:srgbClr val="FFA657">
              <a:alpha val="25000"/>
            </a:srgbClr>
          </a:solidFill>
          <a:ln w="12700">
            <a:solidFill>
              <a:srgbClr val="FFA657">
                <a:alpha val="25000"/>
              </a:srgbClr>
            </a:solidFill>
            <a:prstDash val="solid"/>
          </a:ln>
        </p:spPr>
      </p:sp>
      <p:sp>
        <p:nvSpPr>
          <p:cNvPr id="6" name="Text 4"/>
          <p:cNvSpPr/>
          <p:nvPr/>
        </p:nvSpPr>
        <p:spPr>
          <a:xfrm>
            <a:off x="274320" y="868680"/>
            <a:ext cx="502920" cy="868680"/>
          </a:xfrm>
          <a:prstGeom prst="rect">
            <a:avLst/>
          </a:prstGeom>
          <a:noFill/>
          <a:ln/>
        </p:spPr>
        <p:txBody>
          <a:bodyPr wrap="square" rtlCol="0" anchor="ctr"/>
          <a:lstStyle/>
          <a:p>
            <a:pPr algn="ctr" indent="0" marL="0">
              <a:buNone/>
            </a:pPr>
            <a:r>
              <a:rPr lang="en-US" sz="1400" b="1" dirty="0">
                <a:solidFill>
                  <a:srgbClr val="FFA657"/>
                </a:solidFill>
              </a:rPr>
              <a:t>01</a:t>
            </a:r>
            <a:endParaRPr lang="en-US" sz="1400" dirty="0"/>
          </a:p>
        </p:txBody>
      </p:sp>
      <p:sp>
        <p:nvSpPr>
          <p:cNvPr id="7" name="Text 5"/>
          <p:cNvSpPr/>
          <p:nvPr/>
        </p:nvSpPr>
        <p:spPr>
          <a:xfrm>
            <a:off x="868680" y="914400"/>
            <a:ext cx="3474720" cy="365760"/>
          </a:xfrm>
          <a:prstGeom prst="rect">
            <a:avLst/>
          </a:prstGeom>
          <a:noFill/>
          <a:ln/>
        </p:spPr>
        <p:txBody>
          <a:bodyPr wrap="square" rtlCol="0" anchor="ctr"/>
          <a:lstStyle/>
          <a:p>
            <a:pPr indent="0" marL="0">
              <a:buNone/>
            </a:pPr>
            <a:r>
              <a:rPr lang="en-US" sz="1300" b="1" dirty="0">
                <a:solidFill>
                  <a:srgbClr val="FFFFFF"/>
                </a:solidFill>
              </a:rPr>
              <a:t>Explored Claude AI Connectors</a:t>
            </a:r>
            <a:endParaRPr lang="en-US" sz="1300" dirty="0"/>
          </a:p>
        </p:txBody>
      </p:sp>
      <p:sp>
        <p:nvSpPr>
          <p:cNvPr id="8" name="Text 6"/>
          <p:cNvSpPr/>
          <p:nvPr/>
        </p:nvSpPr>
        <p:spPr>
          <a:xfrm>
            <a:off x="868680" y="1307592"/>
            <a:ext cx="3474720" cy="365760"/>
          </a:xfrm>
          <a:prstGeom prst="rect">
            <a:avLst/>
          </a:prstGeom>
          <a:noFill/>
          <a:ln/>
        </p:spPr>
        <p:txBody>
          <a:bodyPr wrap="square" rtlCol="0" anchor="ctr"/>
          <a:lstStyle/>
          <a:p>
            <a:pPr indent="0" marL="0">
              <a:buNone/>
            </a:pPr>
            <a:r>
              <a:rPr lang="en-US" sz="1100" dirty="0">
                <a:solidFill>
                  <a:srgbClr val="C9D1D9"/>
                </a:solidFill>
              </a:rPr>
              <a:t>Reviewed available MCP connectors and integrations</a:t>
            </a:r>
            <a:endParaRPr lang="en-US" sz="1100" dirty="0"/>
          </a:p>
        </p:txBody>
      </p:sp>
      <p:sp>
        <p:nvSpPr>
          <p:cNvPr id="9" name="Shape 7"/>
          <p:cNvSpPr/>
          <p:nvPr/>
        </p:nvSpPr>
        <p:spPr>
          <a:xfrm>
            <a:off x="4709160" y="868680"/>
            <a:ext cx="4206240" cy="868680"/>
          </a:xfrm>
          <a:prstGeom prst="rect">
            <a:avLst/>
          </a:prstGeom>
          <a:solidFill>
            <a:srgbClr val="21262D"/>
          </a:solidFill>
          <a:ln w="12700">
            <a:solidFill>
              <a:srgbClr val="FFA657">
                <a:alpha val="22000"/>
              </a:srgbClr>
            </a:solidFill>
            <a:prstDash val="solid"/>
          </a:ln>
          <a:effectLst>
            <a:outerShdw sx="100000" sy="100000" kx="0" ky="0" algn="bl" rotWithShape="0" blurRad="101600" dist="38100" dir="8100000">
              <a:srgbClr val="000000">
                <a:alpha val="30000"/>
              </a:srgbClr>
            </a:outerShdw>
          </a:effectLst>
        </p:spPr>
      </p:sp>
      <p:sp>
        <p:nvSpPr>
          <p:cNvPr id="10" name="Shape 8"/>
          <p:cNvSpPr/>
          <p:nvPr/>
        </p:nvSpPr>
        <p:spPr>
          <a:xfrm>
            <a:off x="4709160" y="868680"/>
            <a:ext cx="502920" cy="868680"/>
          </a:xfrm>
          <a:prstGeom prst="rect">
            <a:avLst/>
          </a:prstGeom>
          <a:solidFill>
            <a:srgbClr val="FFA657">
              <a:alpha val="25000"/>
            </a:srgbClr>
          </a:solidFill>
          <a:ln w="12700">
            <a:solidFill>
              <a:srgbClr val="FFA657">
                <a:alpha val="25000"/>
              </a:srgbClr>
            </a:solidFill>
            <a:prstDash val="solid"/>
          </a:ln>
        </p:spPr>
      </p:sp>
      <p:sp>
        <p:nvSpPr>
          <p:cNvPr id="11" name="Text 9"/>
          <p:cNvSpPr/>
          <p:nvPr/>
        </p:nvSpPr>
        <p:spPr>
          <a:xfrm>
            <a:off x="4709160" y="868680"/>
            <a:ext cx="502920" cy="868680"/>
          </a:xfrm>
          <a:prstGeom prst="rect">
            <a:avLst/>
          </a:prstGeom>
          <a:noFill/>
          <a:ln/>
        </p:spPr>
        <p:txBody>
          <a:bodyPr wrap="square" rtlCol="0" anchor="ctr"/>
          <a:lstStyle/>
          <a:p>
            <a:pPr algn="ctr" indent="0" marL="0">
              <a:buNone/>
            </a:pPr>
            <a:r>
              <a:rPr lang="en-US" sz="1400" b="1" dirty="0">
                <a:solidFill>
                  <a:srgbClr val="FFA657"/>
                </a:solidFill>
              </a:rPr>
              <a:t>02</a:t>
            </a:r>
            <a:endParaRPr lang="en-US" sz="1400" dirty="0"/>
          </a:p>
        </p:txBody>
      </p:sp>
      <p:sp>
        <p:nvSpPr>
          <p:cNvPr id="12" name="Text 10"/>
          <p:cNvSpPr/>
          <p:nvPr/>
        </p:nvSpPr>
        <p:spPr>
          <a:xfrm>
            <a:off x="5303520" y="914400"/>
            <a:ext cx="3474720" cy="365760"/>
          </a:xfrm>
          <a:prstGeom prst="rect">
            <a:avLst/>
          </a:prstGeom>
          <a:noFill/>
          <a:ln/>
        </p:spPr>
        <p:txBody>
          <a:bodyPr wrap="square" rtlCol="0" anchor="ctr"/>
          <a:lstStyle/>
          <a:p>
            <a:pPr indent="0" marL="0">
              <a:buNone/>
            </a:pPr>
            <a:r>
              <a:rPr lang="en-US" sz="1300" b="1" dirty="0">
                <a:solidFill>
                  <a:srgbClr val="FFFFFF"/>
                </a:solidFill>
              </a:rPr>
              <a:t>Researched Scraping Tools</a:t>
            </a:r>
            <a:endParaRPr lang="en-US" sz="1300" dirty="0"/>
          </a:p>
        </p:txBody>
      </p:sp>
      <p:sp>
        <p:nvSpPr>
          <p:cNvPr id="13" name="Text 11"/>
          <p:cNvSpPr/>
          <p:nvPr/>
        </p:nvSpPr>
        <p:spPr>
          <a:xfrm>
            <a:off x="5303520" y="1307592"/>
            <a:ext cx="3474720" cy="365760"/>
          </a:xfrm>
          <a:prstGeom prst="rect">
            <a:avLst/>
          </a:prstGeom>
          <a:noFill/>
          <a:ln/>
        </p:spPr>
        <p:txBody>
          <a:bodyPr wrap="square" rtlCol="0" anchor="ctr"/>
          <a:lstStyle/>
          <a:p>
            <a:pPr indent="0" marL="0">
              <a:buNone/>
            </a:pPr>
            <a:r>
              <a:rPr lang="en-US" sz="1100" dirty="0">
                <a:solidFill>
                  <a:srgbClr val="C9D1D9"/>
                </a:solidFill>
              </a:rPr>
              <a:t>Evaluated Apify vs other scraping solutions</a:t>
            </a:r>
            <a:endParaRPr lang="en-US" sz="1100" dirty="0"/>
          </a:p>
        </p:txBody>
      </p:sp>
      <p:sp>
        <p:nvSpPr>
          <p:cNvPr id="14" name="Shape 12"/>
          <p:cNvSpPr/>
          <p:nvPr/>
        </p:nvSpPr>
        <p:spPr>
          <a:xfrm>
            <a:off x="274320" y="1892808"/>
            <a:ext cx="4206240" cy="868680"/>
          </a:xfrm>
          <a:prstGeom prst="rect">
            <a:avLst/>
          </a:prstGeom>
          <a:solidFill>
            <a:srgbClr val="21262D"/>
          </a:solidFill>
          <a:ln w="12700">
            <a:solidFill>
              <a:srgbClr val="FFA657">
                <a:alpha val="22000"/>
              </a:srgbClr>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74320" y="1892808"/>
            <a:ext cx="502920" cy="868680"/>
          </a:xfrm>
          <a:prstGeom prst="rect">
            <a:avLst/>
          </a:prstGeom>
          <a:solidFill>
            <a:srgbClr val="FFA657">
              <a:alpha val="25000"/>
            </a:srgbClr>
          </a:solidFill>
          <a:ln w="12700">
            <a:solidFill>
              <a:srgbClr val="FFA657">
                <a:alpha val="25000"/>
              </a:srgbClr>
            </a:solidFill>
            <a:prstDash val="solid"/>
          </a:ln>
        </p:spPr>
      </p:sp>
      <p:sp>
        <p:nvSpPr>
          <p:cNvPr id="16" name="Text 14"/>
          <p:cNvSpPr/>
          <p:nvPr/>
        </p:nvSpPr>
        <p:spPr>
          <a:xfrm>
            <a:off x="274320" y="1892808"/>
            <a:ext cx="502920" cy="868680"/>
          </a:xfrm>
          <a:prstGeom prst="rect">
            <a:avLst/>
          </a:prstGeom>
          <a:noFill/>
          <a:ln/>
        </p:spPr>
        <p:txBody>
          <a:bodyPr wrap="square" rtlCol="0" anchor="ctr"/>
          <a:lstStyle/>
          <a:p>
            <a:pPr algn="ctr" indent="0" marL="0">
              <a:buNone/>
            </a:pPr>
            <a:r>
              <a:rPr lang="en-US" sz="1400" b="1" dirty="0">
                <a:solidFill>
                  <a:srgbClr val="FFA657"/>
                </a:solidFill>
              </a:rPr>
              <a:t>03</a:t>
            </a:r>
            <a:endParaRPr lang="en-US" sz="1400" dirty="0"/>
          </a:p>
        </p:txBody>
      </p:sp>
      <p:sp>
        <p:nvSpPr>
          <p:cNvPr id="17" name="Text 15"/>
          <p:cNvSpPr/>
          <p:nvPr/>
        </p:nvSpPr>
        <p:spPr>
          <a:xfrm>
            <a:off x="868680" y="1938528"/>
            <a:ext cx="3474720" cy="365760"/>
          </a:xfrm>
          <a:prstGeom prst="rect">
            <a:avLst/>
          </a:prstGeom>
          <a:noFill/>
          <a:ln/>
        </p:spPr>
        <p:txBody>
          <a:bodyPr wrap="square" rtlCol="0" anchor="ctr"/>
          <a:lstStyle/>
          <a:p>
            <a:pPr indent="0" marL="0">
              <a:buNone/>
            </a:pPr>
            <a:r>
              <a:rPr lang="en-US" sz="1300" b="1" dirty="0">
                <a:solidFill>
                  <a:srgbClr val="FFFFFF"/>
                </a:solidFill>
              </a:rPr>
              <a:t>Set Up Apify Account</a:t>
            </a:r>
            <a:endParaRPr lang="en-US" sz="1300" dirty="0"/>
          </a:p>
        </p:txBody>
      </p:sp>
      <p:sp>
        <p:nvSpPr>
          <p:cNvPr id="18" name="Text 16"/>
          <p:cNvSpPr/>
          <p:nvPr/>
        </p:nvSpPr>
        <p:spPr>
          <a:xfrm>
            <a:off x="868680" y="2331720"/>
            <a:ext cx="3474720" cy="365760"/>
          </a:xfrm>
          <a:prstGeom prst="rect">
            <a:avLst/>
          </a:prstGeom>
          <a:noFill/>
          <a:ln/>
        </p:spPr>
        <p:txBody>
          <a:bodyPr wrap="square" rtlCol="0" anchor="ctr"/>
          <a:lstStyle/>
          <a:p>
            <a:pPr indent="0" marL="0">
              <a:buNone/>
            </a:pPr>
            <a:r>
              <a:rPr lang="en-US" sz="1100" dirty="0">
                <a:solidFill>
                  <a:srgbClr val="C9D1D9"/>
                </a:solidFill>
              </a:rPr>
              <a:t>Created account, generated API key, tested endpoints</a:t>
            </a:r>
            <a:endParaRPr lang="en-US" sz="1100" dirty="0"/>
          </a:p>
        </p:txBody>
      </p:sp>
      <p:sp>
        <p:nvSpPr>
          <p:cNvPr id="19" name="Shape 17"/>
          <p:cNvSpPr/>
          <p:nvPr/>
        </p:nvSpPr>
        <p:spPr>
          <a:xfrm>
            <a:off x="4709160" y="1892808"/>
            <a:ext cx="4206240" cy="868680"/>
          </a:xfrm>
          <a:prstGeom prst="rect">
            <a:avLst/>
          </a:prstGeom>
          <a:solidFill>
            <a:srgbClr val="21262D"/>
          </a:solidFill>
          <a:ln w="12700">
            <a:solidFill>
              <a:srgbClr val="FFA657">
                <a:alpha val="22000"/>
              </a:srgbClr>
            </a:solidFill>
            <a:prstDash val="solid"/>
          </a:ln>
          <a:effectLst>
            <a:outerShdw sx="100000" sy="100000" kx="0" ky="0" algn="bl" rotWithShape="0" blurRad="101600" dist="38100" dir="8100000">
              <a:srgbClr val="000000">
                <a:alpha val="30000"/>
              </a:srgbClr>
            </a:outerShdw>
          </a:effectLst>
        </p:spPr>
      </p:sp>
      <p:sp>
        <p:nvSpPr>
          <p:cNvPr id="20" name="Shape 18"/>
          <p:cNvSpPr/>
          <p:nvPr/>
        </p:nvSpPr>
        <p:spPr>
          <a:xfrm>
            <a:off x="4709160" y="1892808"/>
            <a:ext cx="502920" cy="868680"/>
          </a:xfrm>
          <a:prstGeom prst="rect">
            <a:avLst/>
          </a:prstGeom>
          <a:solidFill>
            <a:srgbClr val="FFA657">
              <a:alpha val="25000"/>
            </a:srgbClr>
          </a:solidFill>
          <a:ln w="12700">
            <a:solidFill>
              <a:srgbClr val="FFA657">
                <a:alpha val="25000"/>
              </a:srgbClr>
            </a:solidFill>
            <a:prstDash val="solid"/>
          </a:ln>
        </p:spPr>
      </p:sp>
      <p:sp>
        <p:nvSpPr>
          <p:cNvPr id="21" name="Text 19"/>
          <p:cNvSpPr/>
          <p:nvPr/>
        </p:nvSpPr>
        <p:spPr>
          <a:xfrm>
            <a:off x="4709160" y="1892808"/>
            <a:ext cx="502920" cy="868680"/>
          </a:xfrm>
          <a:prstGeom prst="rect">
            <a:avLst/>
          </a:prstGeom>
          <a:noFill/>
          <a:ln/>
        </p:spPr>
        <p:txBody>
          <a:bodyPr wrap="square" rtlCol="0" anchor="ctr"/>
          <a:lstStyle/>
          <a:p>
            <a:pPr algn="ctr" indent="0" marL="0">
              <a:buNone/>
            </a:pPr>
            <a:r>
              <a:rPr lang="en-US" sz="1400" b="1" dirty="0">
                <a:solidFill>
                  <a:srgbClr val="FFA657"/>
                </a:solidFill>
              </a:rPr>
              <a:t>04</a:t>
            </a:r>
            <a:endParaRPr lang="en-US" sz="1400" dirty="0"/>
          </a:p>
        </p:txBody>
      </p:sp>
      <p:sp>
        <p:nvSpPr>
          <p:cNvPr id="22" name="Text 20"/>
          <p:cNvSpPr/>
          <p:nvPr/>
        </p:nvSpPr>
        <p:spPr>
          <a:xfrm>
            <a:off x="5303520" y="1938528"/>
            <a:ext cx="3474720" cy="365760"/>
          </a:xfrm>
          <a:prstGeom prst="rect">
            <a:avLst/>
          </a:prstGeom>
          <a:noFill/>
          <a:ln/>
        </p:spPr>
        <p:txBody>
          <a:bodyPr wrap="square" rtlCol="0" anchor="ctr"/>
          <a:lstStyle/>
          <a:p>
            <a:pPr indent="0" marL="0">
              <a:buNone/>
            </a:pPr>
            <a:r>
              <a:rPr lang="en-US" sz="1300" b="1" dirty="0">
                <a:solidFill>
                  <a:srgbClr val="FFFFFF"/>
                </a:solidFill>
              </a:rPr>
              <a:t>Integrated API Key</a:t>
            </a:r>
            <a:endParaRPr lang="en-US" sz="1300" dirty="0"/>
          </a:p>
        </p:txBody>
      </p:sp>
      <p:sp>
        <p:nvSpPr>
          <p:cNvPr id="23" name="Text 21"/>
          <p:cNvSpPr/>
          <p:nvPr/>
        </p:nvSpPr>
        <p:spPr>
          <a:xfrm>
            <a:off x="5303520" y="2331720"/>
            <a:ext cx="3474720" cy="365760"/>
          </a:xfrm>
          <a:prstGeom prst="rect">
            <a:avLst/>
          </a:prstGeom>
          <a:noFill/>
          <a:ln/>
        </p:spPr>
        <p:txBody>
          <a:bodyPr wrap="square" rtlCol="0" anchor="ctr"/>
          <a:lstStyle/>
          <a:p>
            <a:pPr indent="0" marL="0">
              <a:buNone/>
            </a:pPr>
            <a:r>
              <a:rPr lang="en-US" sz="1100" dirty="0">
                <a:solidFill>
                  <a:srgbClr val="C9D1D9"/>
                </a:solidFill>
              </a:rPr>
              <a:t>Connected Apify credentials to Claude connector</a:t>
            </a:r>
            <a:endParaRPr lang="en-US" sz="1100" dirty="0"/>
          </a:p>
        </p:txBody>
      </p:sp>
      <p:sp>
        <p:nvSpPr>
          <p:cNvPr id="24" name="Shape 22"/>
          <p:cNvSpPr/>
          <p:nvPr/>
        </p:nvSpPr>
        <p:spPr>
          <a:xfrm>
            <a:off x="274320" y="2916936"/>
            <a:ext cx="4206240" cy="868680"/>
          </a:xfrm>
          <a:prstGeom prst="rect">
            <a:avLst/>
          </a:prstGeom>
          <a:solidFill>
            <a:srgbClr val="21262D"/>
          </a:solidFill>
          <a:ln w="12700">
            <a:solidFill>
              <a:srgbClr val="FFA657">
                <a:alpha val="22000"/>
              </a:srgbClr>
            </a:solidFill>
            <a:prstDash val="solid"/>
          </a:ln>
          <a:effectLst>
            <a:outerShdw sx="100000" sy="100000" kx="0" ky="0" algn="bl" rotWithShape="0" blurRad="101600" dist="38100" dir="8100000">
              <a:srgbClr val="000000">
                <a:alpha val="30000"/>
              </a:srgbClr>
            </a:outerShdw>
          </a:effectLst>
        </p:spPr>
      </p:sp>
      <p:sp>
        <p:nvSpPr>
          <p:cNvPr id="25" name="Shape 23"/>
          <p:cNvSpPr/>
          <p:nvPr/>
        </p:nvSpPr>
        <p:spPr>
          <a:xfrm>
            <a:off x="274320" y="2916936"/>
            <a:ext cx="502920" cy="868680"/>
          </a:xfrm>
          <a:prstGeom prst="rect">
            <a:avLst/>
          </a:prstGeom>
          <a:solidFill>
            <a:srgbClr val="FFA657">
              <a:alpha val="25000"/>
            </a:srgbClr>
          </a:solidFill>
          <a:ln w="12700">
            <a:solidFill>
              <a:srgbClr val="FFA657">
                <a:alpha val="25000"/>
              </a:srgbClr>
            </a:solidFill>
            <a:prstDash val="solid"/>
          </a:ln>
        </p:spPr>
      </p:sp>
      <p:sp>
        <p:nvSpPr>
          <p:cNvPr id="26" name="Text 24"/>
          <p:cNvSpPr/>
          <p:nvPr/>
        </p:nvSpPr>
        <p:spPr>
          <a:xfrm>
            <a:off x="274320" y="2916936"/>
            <a:ext cx="502920" cy="868680"/>
          </a:xfrm>
          <a:prstGeom prst="rect">
            <a:avLst/>
          </a:prstGeom>
          <a:noFill/>
          <a:ln/>
        </p:spPr>
        <p:txBody>
          <a:bodyPr wrap="square" rtlCol="0" anchor="ctr"/>
          <a:lstStyle/>
          <a:p>
            <a:pPr algn="ctr" indent="0" marL="0">
              <a:buNone/>
            </a:pPr>
            <a:r>
              <a:rPr lang="en-US" sz="1400" b="1" dirty="0">
                <a:solidFill>
                  <a:srgbClr val="FFA657"/>
                </a:solidFill>
              </a:rPr>
              <a:t>05</a:t>
            </a:r>
            <a:endParaRPr lang="en-US" sz="1400" dirty="0"/>
          </a:p>
        </p:txBody>
      </p:sp>
      <p:sp>
        <p:nvSpPr>
          <p:cNvPr id="27" name="Text 25"/>
          <p:cNvSpPr/>
          <p:nvPr/>
        </p:nvSpPr>
        <p:spPr>
          <a:xfrm>
            <a:off x="868680" y="2962656"/>
            <a:ext cx="3474720" cy="365760"/>
          </a:xfrm>
          <a:prstGeom prst="rect">
            <a:avLst/>
          </a:prstGeom>
          <a:noFill/>
          <a:ln/>
        </p:spPr>
        <p:txBody>
          <a:bodyPr wrap="square" rtlCol="0" anchor="ctr"/>
          <a:lstStyle/>
          <a:p>
            <a:pPr indent="0" marL="0">
              <a:buNone/>
            </a:pPr>
            <a:r>
              <a:rPr lang="en-US" sz="1300" b="1" dirty="0">
                <a:solidFill>
                  <a:srgbClr val="FFFFFF"/>
                </a:solidFill>
              </a:rPr>
              <a:t>Resume Upload &amp; Prompt Design</a:t>
            </a:r>
            <a:endParaRPr lang="en-US" sz="1300" dirty="0"/>
          </a:p>
        </p:txBody>
      </p:sp>
      <p:sp>
        <p:nvSpPr>
          <p:cNvPr id="28" name="Text 26"/>
          <p:cNvSpPr/>
          <p:nvPr/>
        </p:nvSpPr>
        <p:spPr>
          <a:xfrm>
            <a:off x="868680" y="3355848"/>
            <a:ext cx="3474720" cy="365760"/>
          </a:xfrm>
          <a:prstGeom prst="rect">
            <a:avLst/>
          </a:prstGeom>
          <a:noFill/>
          <a:ln/>
        </p:spPr>
        <p:txBody>
          <a:bodyPr wrap="square" rtlCol="0" anchor="ctr"/>
          <a:lstStyle/>
          <a:p>
            <a:pPr indent="0" marL="0">
              <a:buNone/>
            </a:pPr>
            <a:r>
              <a:rPr lang="en-US" sz="1100" dirty="0">
                <a:solidFill>
                  <a:srgbClr val="C9D1D9"/>
                </a:solidFill>
              </a:rPr>
              <a:t>Uploaded resume and engineered semantic matching prompts</a:t>
            </a:r>
            <a:endParaRPr lang="en-US" sz="1100" dirty="0"/>
          </a:p>
        </p:txBody>
      </p:sp>
      <p:sp>
        <p:nvSpPr>
          <p:cNvPr id="29" name="Shape 27"/>
          <p:cNvSpPr/>
          <p:nvPr/>
        </p:nvSpPr>
        <p:spPr>
          <a:xfrm>
            <a:off x="4709160" y="2916936"/>
            <a:ext cx="4206240" cy="868680"/>
          </a:xfrm>
          <a:prstGeom prst="rect">
            <a:avLst/>
          </a:prstGeom>
          <a:solidFill>
            <a:srgbClr val="21262D"/>
          </a:solidFill>
          <a:ln w="12700">
            <a:solidFill>
              <a:srgbClr val="FFA657">
                <a:alpha val="22000"/>
              </a:srgbClr>
            </a:solidFill>
            <a:prstDash val="solid"/>
          </a:ln>
          <a:effectLst>
            <a:outerShdw sx="100000" sy="100000" kx="0" ky="0" algn="bl" rotWithShape="0" blurRad="101600" dist="38100" dir="8100000">
              <a:srgbClr val="000000">
                <a:alpha val="30000"/>
              </a:srgbClr>
            </a:outerShdw>
          </a:effectLst>
        </p:spPr>
      </p:sp>
      <p:sp>
        <p:nvSpPr>
          <p:cNvPr id="30" name="Shape 28"/>
          <p:cNvSpPr/>
          <p:nvPr/>
        </p:nvSpPr>
        <p:spPr>
          <a:xfrm>
            <a:off x="4709160" y="2916936"/>
            <a:ext cx="502920" cy="868680"/>
          </a:xfrm>
          <a:prstGeom prst="rect">
            <a:avLst/>
          </a:prstGeom>
          <a:solidFill>
            <a:srgbClr val="FFA657">
              <a:alpha val="25000"/>
            </a:srgbClr>
          </a:solidFill>
          <a:ln w="12700">
            <a:solidFill>
              <a:srgbClr val="FFA657">
                <a:alpha val="25000"/>
              </a:srgbClr>
            </a:solidFill>
            <a:prstDash val="solid"/>
          </a:ln>
        </p:spPr>
      </p:sp>
      <p:sp>
        <p:nvSpPr>
          <p:cNvPr id="31" name="Text 29"/>
          <p:cNvSpPr/>
          <p:nvPr/>
        </p:nvSpPr>
        <p:spPr>
          <a:xfrm>
            <a:off x="4709160" y="2916936"/>
            <a:ext cx="502920" cy="868680"/>
          </a:xfrm>
          <a:prstGeom prst="rect">
            <a:avLst/>
          </a:prstGeom>
          <a:noFill/>
          <a:ln/>
        </p:spPr>
        <p:txBody>
          <a:bodyPr wrap="square" rtlCol="0" anchor="ctr"/>
          <a:lstStyle/>
          <a:p>
            <a:pPr algn="ctr" indent="0" marL="0">
              <a:buNone/>
            </a:pPr>
            <a:r>
              <a:rPr lang="en-US" sz="1400" b="1" dirty="0">
                <a:solidFill>
                  <a:srgbClr val="FFA657"/>
                </a:solidFill>
              </a:rPr>
              <a:t>06</a:t>
            </a:r>
            <a:endParaRPr lang="en-US" sz="1400" dirty="0"/>
          </a:p>
        </p:txBody>
      </p:sp>
      <p:sp>
        <p:nvSpPr>
          <p:cNvPr id="32" name="Text 30"/>
          <p:cNvSpPr/>
          <p:nvPr/>
        </p:nvSpPr>
        <p:spPr>
          <a:xfrm>
            <a:off x="5303520" y="2962656"/>
            <a:ext cx="3474720" cy="365760"/>
          </a:xfrm>
          <a:prstGeom prst="rect">
            <a:avLst/>
          </a:prstGeom>
          <a:noFill/>
          <a:ln/>
        </p:spPr>
        <p:txBody>
          <a:bodyPr wrap="square" rtlCol="0" anchor="ctr"/>
          <a:lstStyle/>
          <a:p>
            <a:pPr indent="0" marL="0">
              <a:buNone/>
            </a:pPr>
            <a:r>
              <a:rPr lang="en-US" sz="1300" b="1" dirty="0">
                <a:solidFill>
                  <a:srgbClr val="FFFFFF"/>
                </a:solidFill>
              </a:rPr>
              <a:t>Automated Multi-Platform Search</a:t>
            </a:r>
            <a:endParaRPr lang="en-US" sz="1300" dirty="0"/>
          </a:p>
        </p:txBody>
      </p:sp>
      <p:sp>
        <p:nvSpPr>
          <p:cNvPr id="33" name="Text 31"/>
          <p:cNvSpPr/>
          <p:nvPr/>
        </p:nvSpPr>
        <p:spPr>
          <a:xfrm>
            <a:off x="5303520" y="3355848"/>
            <a:ext cx="3474720" cy="365760"/>
          </a:xfrm>
          <a:prstGeom prst="rect">
            <a:avLst/>
          </a:prstGeom>
          <a:noFill/>
          <a:ln/>
        </p:spPr>
        <p:txBody>
          <a:bodyPr wrap="square" rtlCol="0" anchor="ctr"/>
          <a:lstStyle/>
          <a:p>
            <a:pPr indent="0" marL="0">
              <a:buNone/>
            </a:pPr>
            <a:r>
              <a:rPr lang="en-US" sz="1100" dirty="0">
                <a:solidFill>
                  <a:srgbClr val="C9D1D9"/>
                </a:solidFill>
              </a:rPr>
              <a:t>Deployed workflow across job boards and company career pages</a:t>
            </a:r>
            <a:endParaRPr lang="en-US" sz="1100" dirty="0"/>
          </a:p>
        </p:txBody>
      </p:sp>
      <p:sp>
        <p:nvSpPr>
          <p:cNvPr id="34" name="Shape 32"/>
          <p:cNvSpPr/>
          <p:nvPr/>
        </p:nvSpPr>
        <p:spPr>
          <a:xfrm>
            <a:off x="274320" y="3941064"/>
            <a:ext cx="4206240" cy="868680"/>
          </a:xfrm>
          <a:prstGeom prst="rect">
            <a:avLst/>
          </a:prstGeom>
          <a:solidFill>
            <a:srgbClr val="21262D"/>
          </a:solidFill>
          <a:ln w="12700">
            <a:solidFill>
              <a:srgbClr val="FFA657">
                <a:alpha val="22000"/>
              </a:srgbClr>
            </a:solidFill>
            <a:prstDash val="solid"/>
          </a:ln>
          <a:effectLst>
            <a:outerShdw sx="100000" sy="100000" kx="0" ky="0" algn="bl" rotWithShape="0" blurRad="101600" dist="38100" dir="8100000">
              <a:srgbClr val="000000">
                <a:alpha val="30000"/>
              </a:srgbClr>
            </a:outerShdw>
          </a:effectLst>
        </p:spPr>
      </p:sp>
      <p:sp>
        <p:nvSpPr>
          <p:cNvPr id="35" name="Shape 33"/>
          <p:cNvSpPr/>
          <p:nvPr/>
        </p:nvSpPr>
        <p:spPr>
          <a:xfrm>
            <a:off x="274320" y="3941064"/>
            <a:ext cx="502920" cy="868680"/>
          </a:xfrm>
          <a:prstGeom prst="rect">
            <a:avLst/>
          </a:prstGeom>
          <a:solidFill>
            <a:srgbClr val="FFA657">
              <a:alpha val="25000"/>
            </a:srgbClr>
          </a:solidFill>
          <a:ln w="12700">
            <a:solidFill>
              <a:srgbClr val="FFA657">
                <a:alpha val="25000"/>
              </a:srgbClr>
            </a:solidFill>
            <a:prstDash val="solid"/>
          </a:ln>
        </p:spPr>
      </p:sp>
      <p:sp>
        <p:nvSpPr>
          <p:cNvPr id="36" name="Text 34"/>
          <p:cNvSpPr/>
          <p:nvPr/>
        </p:nvSpPr>
        <p:spPr>
          <a:xfrm>
            <a:off x="274320" y="3941064"/>
            <a:ext cx="502920" cy="868680"/>
          </a:xfrm>
          <a:prstGeom prst="rect">
            <a:avLst/>
          </a:prstGeom>
          <a:noFill/>
          <a:ln/>
        </p:spPr>
        <p:txBody>
          <a:bodyPr wrap="square" rtlCol="0" anchor="ctr"/>
          <a:lstStyle/>
          <a:p>
            <a:pPr algn="ctr" indent="0" marL="0">
              <a:buNone/>
            </a:pPr>
            <a:r>
              <a:rPr lang="en-US" sz="1400" b="1" dirty="0">
                <a:solidFill>
                  <a:srgbClr val="FFA657"/>
                </a:solidFill>
              </a:rPr>
              <a:t>07</a:t>
            </a:r>
            <a:endParaRPr lang="en-US" sz="1400" dirty="0"/>
          </a:p>
        </p:txBody>
      </p:sp>
      <p:sp>
        <p:nvSpPr>
          <p:cNvPr id="37" name="Text 35"/>
          <p:cNvSpPr/>
          <p:nvPr/>
        </p:nvSpPr>
        <p:spPr>
          <a:xfrm>
            <a:off x="868680" y="3986784"/>
            <a:ext cx="3474720" cy="365760"/>
          </a:xfrm>
          <a:prstGeom prst="rect">
            <a:avLst/>
          </a:prstGeom>
          <a:noFill/>
          <a:ln/>
        </p:spPr>
        <p:txBody>
          <a:bodyPr wrap="square" rtlCol="0" anchor="ctr"/>
          <a:lstStyle/>
          <a:p>
            <a:pPr indent="0" marL="0">
              <a:buNone/>
            </a:pPr>
            <a:r>
              <a:rPr lang="en-US" sz="1300" b="1" dirty="0">
                <a:solidFill>
                  <a:srgbClr val="FFFFFF"/>
                </a:solidFill>
              </a:rPr>
              <a:t>Validated &amp; Iterated</a:t>
            </a:r>
            <a:endParaRPr lang="en-US" sz="1300" dirty="0"/>
          </a:p>
        </p:txBody>
      </p:sp>
      <p:sp>
        <p:nvSpPr>
          <p:cNvPr id="38" name="Text 36"/>
          <p:cNvSpPr/>
          <p:nvPr/>
        </p:nvSpPr>
        <p:spPr>
          <a:xfrm>
            <a:off x="868680" y="4379976"/>
            <a:ext cx="3474720" cy="365760"/>
          </a:xfrm>
          <a:prstGeom prst="rect">
            <a:avLst/>
          </a:prstGeom>
          <a:noFill/>
          <a:ln/>
        </p:spPr>
        <p:txBody>
          <a:bodyPr wrap="square" rtlCol="0" anchor="ctr"/>
          <a:lstStyle/>
          <a:p>
            <a:pPr indent="0" marL="0">
              <a:buNone/>
            </a:pPr>
            <a:r>
              <a:rPr lang="en-US" sz="1100" dirty="0">
                <a:solidFill>
                  <a:srgbClr val="C9D1D9"/>
                </a:solidFill>
              </a:rPr>
              <a:t>Tested results, refined prompts, improved match quality</a:t>
            </a:r>
            <a:endParaRPr lang="en-US" sz="1100" dirty="0"/>
          </a:p>
        </p:txBody>
      </p:sp>
      <p:sp>
        <p:nvSpPr>
          <p:cNvPr id="39" name="Shape 37"/>
          <p:cNvSpPr/>
          <p:nvPr/>
        </p:nvSpPr>
        <p:spPr>
          <a:xfrm>
            <a:off x="4709160" y="3941064"/>
            <a:ext cx="4206240" cy="868680"/>
          </a:xfrm>
          <a:prstGeom prst="rect">
            <a:avLst/>
          </a:prstGeom>
          <a:solidFill>
            <a:srgbClr val="21262D"/>
          </a:solidFill>
          <a:ln w="12700">
            <a:solidFill>
              <a:srgbClr val="FFA657">
                <a:alpha val="22000"/>
              </a:srgbClr>
            </a:solidFill>
            <a:prstDash val="solid"/>
          </a:ln>
          <a:effectLst>
            <a:outerShdw sx="100000" sy="100000" kx="0" ky="0" algn="bl" rotWithShape="0" blurRad="101600" dist="38100" dir="8100000">
              <a:srgbClr val="000000">
                <a:alpha val="30000"/>
              </a:srgbClr>
            </a:outerShdw>
          </a:effectLst>
        </p:spPr>
      </p:sp>
      <p:sp>
        <p:nvSpPr>
          <p:cNvPr id="40" name="Shape 38"/>
          <p:cNvSpPr/>
          <p:nvPr/>
        </p:nvSpPr>
        <p:spPr>
          <a:xfrm>
            <a:off x="4709160" y="3941064"/>
            <a:ext cx="502920" cy="868680"/>
          </a:xfrm>
          <a:prstGeom prst="rect">
            <a:avLst/>
          </a:prstGeom>
          <a:solidFill>
            <a:srgbClr val="FFA657">
              <a:alpha val="25000"/>
            </a:srgbClr>
          </a:solidFill>
          <a:ln w="12700">
            <a:solidFill>
              <a:srgbClr val="FFA657">
                <a:alpha val="25000"/>
              </a:srgbClr>
            </a:solidFill>
            <a:prstDash val="solid"/>
          </a:ln>
        </p:spPr>
      </p:sp>
      <p:sp>
        <p:nvSpPr>
          <p:cNvPr id="41" name="Text 39"/>
          <p:cNvSpPr/>
          <p:nvPr/>
        </p:nvSpPr>
        <p:spPr>
          <a:xfrm>
            <a:off x="4709160" y="3941064"/>
            <a:ext cx="502920" cy="868680"/>
          </a:xfrm>
          <a:prstGeom prst="rect">
            <a:avLst/>
          </a:prstGeom>
          <a:noFill/>
          <a:ln/>
        </p:spPr>
        <p:txBody>
          <a:bodyPr wrap="square" rtlCol="0" anchor="ctr"/>
          <a:lstStyle/>
          <a:p>
            <a:pPr algn="ctr" indent="0" marL="0">
              <a:buNone/>
            </a:pPr>
            <a:r>
              <a:rPr lang="en-US" sz="1400" b="1" dirty="0">
                <a:solidFill>
                  <a:srgbClr val="FFA657"/>
                </a:solidFill>
              </a:rPr>
              <a:t>08</a:t>
            </a:r>
            <a:endParaRPr lang="en-US" sz="1400" dirty="0"/>
          </a:p>
        </p:txBody>
      </p:sp>
      <p:sp>
        <p:nvSpPr>
          <p:cNvPr id="42" name="Text 40"/>
          <p:cNvSpPr/>
          <p:nvPr/>
        </p:nvSpPr>
        <p:spPr>
          <a:xfrm>
            <a:off x="5303520" y="3986784"/>
            <a:ext cx="3474720" cy="365760"/>
          </a:xfrm>
          <a:prstGeom prst="rect">
            <a:avLst/>
          </a:prstGeom>
          <a:noFill/>
          <a:ln/>
        </p:spPr>
        <p:txBody>
          <a:bodyPr wrap="square" rtlCol="0" anchor="ctr"/>
          <a:lstStyle/>
          <a:p>
            <a:pPr indent="0" marL="0">
              <a:buNone/>
            </a:pPr>
            <a:r>
              <a:rPr lang="en-US" sz="1300" b="1" dirty="0">
                <a:solidFill>
                  <a:srgbClr val="FFFFFF"/>
                </a:solidFill>
              </a:rPr>
              <a:t>Documented &amp; Deployed</a:t>
            </a:r>
            <a:endParaRPr lang="en-US" sz="1300" dirty="0"/>
          </a:p>
        </p:txBody>
      </p:sp>
      <p:sp>
        <p:nvSpPr>
          <p:cNvPr id="43" name="Text 41"/>
          <p:cNvSpPr/>
          <p:nvPr/>
        </p:nvSpPr>
        <p:spPr>
          <a:xfrm>
            <a:off x="5303520" y="4379976"/>
            <a:ext cx="3474720" cy="365760"/>
          </a:xfrm>
          <a:prstGeom prst="rect">
            <a:avLst/>
          </a:prstGeom>
          <a:noFill/>
          <a:ln/>
        </p:spPr>
        <p:txBody>
          <a:bodyPr wrap="square" rtlCol="0" anchor="ctr"/>
          <a:lstStyle/>
          <a:p>
            <a:pPr indent="0" marL="0">
              <a:buNone/>
            </a:pPr>
            <a:r>
              <a:rPr lang="en-US" sz="1100" dirty="0">
                <a:solidFill>
                  <a:srgbClr val="C9D1D9"/>
                </a:solidFill>
              </a:rPr>
              <a:t>Finalized workflow for repeated, on-demand use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FB950"/>
          </a:solidFill>
          <a:ln w="12700">
            <a:solidFill>
              <a:srgbClr val="3FB950"/>
            </a:solidFill>
            <a:prstDash val="solid"/>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3000" b="1" dirty="0">
                <a:solidFill>
                  <a:srgbClr val="FFFFFF"/>
                </a:solidFill>
              </a:rPr>
              <a:t>Key Features</a:t>
            </a:r>
            <a:endParaRPr lang="en-US" sz="3000" dirty="0"/>
          </a:p>
        </p:txBody>
      </p:sp>
      <p:sp>
        <p:nvSpPr>
          <p:cNvPr id="4" name="Shape 2"/>
          <p:cNvSpPr/>
          <p:nvPr/>
        </p:nvSpPr>
        <p:spPr>
          <a:xfrm>
            <a:off x="274320" y="960120"/>
            <a:ext cx="2697480" cy="1691640"/>
          </a:xfrm>
          <a:prstGeom prst="rect">
            <a:avLst/>
          </a:prstGeom>
          <a:solidFill>
            <a:srgbClr val="21262D"/>
          </a:solidFill>
          <a:ln w="12700">
            <a:solidFill>
              <a:srgbClr val="58A6FF">
                <a:alpha val="35000"/>
              </a:srgbClr>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274320" y="960120"/>
            <a:ext cx="2697480" cy="54864"/>
          </a:xfrm>
          <a:prstGeom prst="rect">
            <a:avLst/>
          </a:prstGeom>
          <a:solidFill>
            <a:srgbClr val="58A6FF"/>
          </a:solidFill>
          <a:ln w="12700">
            <a:solidFill>
              <a:srgbClr val="58A6FF"/>
            </a:solidFill>
            <a:prstDash val="solid"/>
          </a:ln>
        </p:spPr>
      </p:sp>
      <p:pic>
        <p:nvPicPr>
          <p:cNvPr id="6" name="Image 0" descr="preencoded.png">    </p:cNvPr>
          <p:cNvPicPr>
            <a:picLocks noChangeAspect="1"/>
          </p:cNvPicPr>
          <p:nvPr/>
        </p:nvPicPr>
        <p:blipFill>
          <a:blip r:embed="rId1"/>
          <a:stretch>
            <a:fillRect/>
          </a:stretch>
        </p:blipFill>
        <p:spPr>
          <a:xfrm>
            <a:off x="411480" y="1097280"/>
            <a:ext cx="411480" cy="411480"/>
          </a:xfrm>
          <a:prstGeom prst="rect">
            <a:avLst/>
          </a:prstGeom>
        </p:spPr>
      </p:pic>
      <p:sp>
        <p:nvSpPr>
          <p:cNvPr id="7" name="Text 4"/>
          <p:cNvSpPr/>
          <p:nvPr/>
        </p:nvSpPr>
        <p:spPr>
          <a:xfrm>
            <a:off x="365760" y="1581912"/>
            <a:ext cx="2514600" cy="384048"/>
          </a:xfrm>
          <a:prstGeom prst="rect">
            <a:avLst/>
          </a:prstGeom>
          <a:noFill/>
          <a:ln/>
        </p:spPr>
        <p:txBody>
          <a:bodyPr wrap="square" rtlCol="0" anchor="ctr"/>
          <a:lstStyle/>
          <a:p>
            <a:pPr indent="0" marL="0">
              <a:buNone/>
            </a:pPr>
            <a:r>
              <a:rPr lang="en-US" sz="1300" b="1" dirty="0">
                <a:solidFill>
                  <a:srgbClr val="FFFFFF"/>
                </a:solidFill>
              </a:rPr>
              <a:t>Multi-Platform Scraping</a:t>
            </a:r>
            <a:endParaRPr lang="en-US" sz="1300" dirty="0"/>
          </a:p>
        </p:txBody>
      </p:sp>
      <p:sp>
        <p:nvSpPr>
          <p:cNvPr id="8" name="Text 5"/>
          <p:cNvSpPr/>
          <p:nvPr/>
        </p:nvSpPr>
        <p:spPr>
          <a:xfrm>
            <a:off x="365760" y="1947672"/>
            <a:ext cx="2514600" cy="658368"/>
          </a:xfrm>
          <a:prstGeom prst="rect">
            <a:avLst/>
          </a:prstGeom>
          <a:noFill/>
          <a:ln/>
        </p:spPr>
        <p:txBody>
          <a:bodyPr wrap="square" rtlCol="0" anchor="ctr"/>
          <a:lstStyle/>
          <a:p>
            <a:pPr indent="0" marL="0">
              <a:buNone/>
            </a:pPr>
            <a:r>
              <a:rPr lang="en-US" sz="1050" dirty="0">
                <a:solidFill>
                  <a:srgbClr val="C9D1D9"/>
                </a:solidFill>
              </a:rPr>
              <a:t>Automatically scrapes LinkedIn, Indeed, Glassdoor &amp; company career sites simultaneously</a:t>
            </a:r>
            <a:endParaRPr lang="en-US" sz="1050" dirty="0"/>
          </a:p>
        </p:txBody>
      </p:sp>
      <p:sp>
        <p:nvSpPr>
          <p:cNvPr id="9" name="Shape 6"/>
          <p:cNvSpPr/>
          <p:nvPr/>
        </p:nvSpPr>
        <p:spPr>
          <a:xfrm>
            <a:off x="3154680" y="960120"/>
            <a:ext cx="2697480" cy="1691640"/>
          </a:xfrm>
          <a:prstGeom prst="rect">
            <a:avLst/>
          </a:prstGeom>
          <a:solidFill>
            <a:srgbClr val="21262D"/>
          </a:solidFill>
          <a:ln w="12700">
            <a:solidFill>
              <a:srgbClr val="D2A8FF">
                <a:alpha val="35000"/>
              </a:srgbClr>
            </a:solidFill>
            <a:prstDash val="solid"/>
          </a:ln>
          <a:effectLst>
            <a:outerShdw sx="100000" sy="100000" kx="0" ky="0" algn="bl" rotWithShape="0" blurRad="101600" dist="38100" dir="8100000">
              <a:srgbClr val="000000">
                <a:alpha val="30000"/>
              </a:srgbClr>
            </a:outerShdw>
          </a:effectLst>
        </p:spPr>
      </p:sp>
      <p:sp>
        <p:nvSpPr>
          <p:cNvPr id="10" name="Shape 7"/>
          <p:cNvSpPr/>
          <p:nvPr/>
        </p:nvSpPr>
        <p:spPr>
          <a:xfrm>
            <a:off x="3154680" y="960120"/>
            <a:ext cx="2697480" cy="54864"/>
          </a:xfrm>
          <a:prstGeom prst="rect">
            <a:avLst/>
          </a:prstGeom>
          <a:solidFill>
            <a:srgbClr val="D2A8FF"/>
          </a:solidFill>
          <a:ln w="12700">
            <a:solidFill>
              <a:srgbClr val="D2A8FF"/>
            </a:solidFill>
            <a:prstDash val="solid"/>
          </a:ln>
        </p:spPr>
      </p:sp>
      <p:pic>
        <p:nvPicPr>
          <p:cNvPr id="11" name="Image 1" descr="preencoded.png">    </p:cNvPr>
          <p:cNvPicPr>
            <a:picLocks noChangeAspect="1"/>
          </p:cNvPicPr>
          <p:nvPr/>
        </p:nvPicPr>
        <p:blipFill>
          <a:blip r:embed="rId2"/>
          <a:stretch>
            <a:fillRect/>
          </a:stretch>
        </p:blipFill>
        <p:spPr>
          <a:xfrm>
            <a:off x="3291840" y="1097280"/>
            <a:ext cx="411480" cy="411480"/>
          </a:xfrm>
          <a:prstGeom prst="rect">
            <a:avLst/>
          </a:prstGeom>
        </p:spPr>
      </p:pic>
      <p:sp>
        <p:nvSpPr>
          <p:cNvPr id="12" name="Text 8"/>
          <p:cNvSpPr/>
          <p:nvPr/>
        </p:nvSpPr>
        <p:spPr>
          <a:xfrm>
            <a:off x="3246120" y="1581912"/>
            <a:ext cx="2514600" cy="384048"/>
          </a:xfrm>
          <a:prstGeom prst="rect">
            <a:avLst/>
          </a:prstGeom>
          <a:noFill/>
          <a:ln/>
        </p:spPr>
        <p:txBody>
          <a:bodyPr wrap="square" rtlCol="0" anchor="ctr"/>
          <a:lstStyle/>
          <a:p>
            <a:pPr indent="0" marL="0">
              <a:buNone/>
            </a:pPr>
            <a:r>
              <a:rPr lang="en-US" sz="1300" b="1" dirty="0">
                <a:solidFill>
                  <a:srgbClr val="FFFFFF"/>
                </a:solidFill>
              </a:rPr>
              <a:t>AI Resume Matching</a:t>
            </a:r>
            <a:endParaRPr lang="en-US" sz="1300" dirty="0"/>
          </a:p>
        </p:txBody>
      </p:sp>
      <p:sp>
        <p:nvSpPr>
          <p:cNvPr id="13" name="Text 9"/>
          <p:cNvSpPr/>
          <p:nvPr/>
        </p:nvSpPr>
        <p:spPr>
          <a:xfrm>
            <a:off x="3246120" y="1947672"/>
            <a:ext cx="2514600" cy="658368"/>
          </a:xfrm>
          <a:prstGeom prst="rect">
            <a:avLst/>
          </a:prstGeom>
          <a:noFill/>
          <a:ln/>
        </p:spPr>
        <p:txBody>
          <a:bodyPr wrap="square" rtlCol="0" anchor="ctr"/>
          <a:lstStyle/>
          <a:p>
            <a:pPr indent="0" marL="0">
              <a:buNone/>
            </a:pPr>
            <a:r>
              <a:rPr lang="en-US" sz="1050" dirty="0">
                <a:solidFill>
                  <a:srgbClr val="C9D1D9"/>
                </a:solidFill>
              </a:rPr>
              <a:t>Claude AI semantically compares your resume to job descriptions for intelligent relevance scoring</a:t>
            </a:r>
            <a:endParaRPr lang="en-US" sz="1050" dirty="0"/>
          </a:p>
        </p:txBody>
      </p:sp>
      <p:sp>
        <p:nvSpPr>
          <p:cNvPr id="14" name="Shape 10"/>
          <p:cNvSpPr/>
          <p:nvPr/>
        </p:nvSpPr>
        <p:spPr>
          <a:xfrm>
            <a:off x="6035040" y="960120"/>
            <a:ext cx="2697480" cy="1691640"/>
          </a:xfrm>
          <a:prstGeom prst="rect">
            <a:avLst/>
          </a:prstGeom>
          <a:solidFill>
            <a:srgbClr val="21262D"/>
          </a:solidFill>
          <a:ln w="12700">
            <a:solidFill>
              <a:srgbClr val="FFA657">
                <a:alpha val="35000"/>
              </a:srgbClr>
            </a:solidFill>
            <a:prstDash val="solid"/>
          </a:ln>
          <a:effectLst>
            <a:outerShdw sx="100000" sy="100000" kx="0" ky="0" algn="bl" rotWithShape="0" blurRad="101600" dist="38100" dir="8100000">
              <a:srgbClr val="000000">
                <a:alpha val="30000"/>
              </a:srgbClr>
            </a:outerShdw>
          </a:effectLst>
        </p:spPr>
      </p:sp>
      <p:sp>
        <p:nvSpPr>
          <p:cNvPr id="15" name="Shape 11"/>
          <p:cNvSpPr/>
          <p:nvPr/>
        </p:nvSpPr>
        <p:spPr>
          <a:xfrm>
            <a:off x="6035040" y="960120"/>
            <a:ext cx="2697480" cy="54864"/>
          </a:xfrm>
          <a:prstGeom prst="rect">
            <a:avLst/>
          </a:prstGeom>
          <a:solidFill>
            <a:srgbClr val="FFA657"/>
          </a:solidFill>
          <a:ln w="12700">
            <a:solidFill>
              <a:srgbClr val="FFA657"/>
            </a:solidFill>
            <a:prstDash val="solid"/>
          </a:ln>
        </p:spPr>
      </p:sp>
      <p:pic>
        <p:nvPicPr>
          <p:cNvPr id="16" name="Image 2" descr="preencoded.png">    </p:cNvPr>
          <p:cNvPicPr>
            <a:picLocks noChangeAspect="1"/>
          </p:cNvPicPr>
          <p:nvPr/>
        </p:nvPicPr>
        <p:blipFill>
          <a:blip r:embed="rId3"/>
          <a:stretch>
            <a:fillRect/>
          </a:stretch>
        </p:blipFill>
        <p:spPr>
          <a:xfrm>
            <a:off x="6172200" y="1097280"/>
            <a:ext cx="411480" cy="411480"/>
          </a:xfrm>
          <a:prstGeom prst="rect">
            <a:avLst/>
          </a:prstGeom>
        </p:spPr>
      </p:pic>
      <p:sp>
        <p:nvSpPr>
          <p:cNvPr id="17" name="Text 12"/>
          <p:cNvSpPr/>
          <p:nvPr/>
        </p:nvSpPr>
        <p:spPr>
          <a:xfrm>
            <a:off x="6126480" y="1581912"/>
            <a:ext cx="2514600" cy="384048"/>
          </a:xfrm>
          <a:prstGeom prst="rect">
            <a:avLst/>
          </a:prstGeom>
          <a:noFill/>
          <a:ln/>
        </p:spPr>
        <p:txBody>
          <a:bodyPr wrap="square" rtlCol="0" anchor="ctr"/>
          <a:lstStyle/>
          <a:p>
            <a:pPr indent="0" marL="0">
              <a:buNone/>
            </a:pPr>
            <a:r>
              <a:rPr lang="en-US" sz="1300" b="1" dirty="0">
                <a:solidFill>
                  <a:srgbClr val="FFFFFF"/>
                </a:solidFill>
              </a:rPr>
              <a:t>Direct Apply Links</a:t>
            </a:r>
            <a:endParaRPr lang="en-US" sz="1300" dirty="0"/>
          </a:p>
        </p:txBody>
      </p:sp>
      <p:sp>
        <p:nvSpPr>
          <p:cNvPr id="18" name="Text 13"/>
          <p:cNvSpPr/>
          <p:nvPr/>
        </p:nvSpPr>
        <p:spPr>
          <a:xfrm>
            <a:off x="6126480" y="1947672"/>
            <a:ext cx="2514600" cy="658368"/>
          </a:xfrm>
          <a:prstGeom prst="rect">
            <a:avLst/>
          </a:prstGeom>
          <a:noFill/>
          <a:ln/>
        </p:spPr>
        <p:txBody>
          <a:bodyPr wrap="square" rtlCol="0" anchor="ctr"/>
          <a:lstStyle/>
          <a:p>
            <a:pPr indent="0" marL="0">
              <a:buNone/>
            </a:pPr>
            <a:r>
              <a:rPr lang="en-US" sz="1050" dirty="0">
                <a:solidFill>
                  <a:srgbClr val="C9D1D9"/>
                </a:solidFill>
              </a:rPr>
              <a:t>Every result includes a direct application URL — no extra navigation required</a:t>
            </a:r>
            <a:endParaRPr lang="en-US" sz="1050" dirty="0"/>
          </a:p>
        </p:txBody>
      </p:sp>
      <p:sp>
        <p:nvSpPr>
          <p:cNvPr id="19" name="Shape 14"/>
          <p:cNvSpPr/>
          <p:nvPr/>
        </p:nvSpPr>
        <p:spPr>
          <a:xfrm>
            <a:off x="274320" y="2880360"/>
            <a:ext cx="2697480" cy="1691640"/>
          </a:xfrm>
          <a:prstGeom prst="rect">
            <a:avLst/>
          </a:prstGeom>
          <a:solidFill>
            <a:srgbClr val="21262D"/>
          </a:solidFill>
          <a:ln w="12700">
            <a:solidFill>
              <a:srgbClr val="FFD700">
                <a:alpha val="35000"/>
              </a:srgbClr>
            </a:solidFill>
            <a:prstDash val="solid"/>
          </a:ln>
          <a:effectLst>
            <a:outerShdw sx="100000" sy="100000" kx="0" ky="0" algn="bl" rotWithShape="0" blurRad="101600" dist="38100" dir="8100000">
              <a:srgbClr val="000000">
                <a:alpha val="30000"/>
              </a:srgbClr>
            </a:outerShdw>
          </a:effectLst>
        </p:spPr>
      </p:sp>
      <p:sp>
        <p:nvSpPr>
          <p:cNvPr id="20" name="Shape 15"/>
          <p:cNvSpPr/>
          <p:nvPr/>
        </p:nvSpPr>
        <p:spPr>
          <a:xfrm>
            <a:off x="274320" y="2880360"/>
            <a:ext cx="2697480" cy="54864"/>
          </a:xfrm>
          <a:prstGeom prst="rect">
            <a:avLst/>
          </a:prstGeom>
          <a:solidFill>
            <a:srgbClr val="FFD700"/>
          </a:solidFill>
          <a:ln w="12700">
            <a:solidFill>
              <a:srgbClr val="FFD700"/>
            </a:solidFill>
            <a:prstDash val="solid"/>
          </a:ln>
        </p:spPr>
      </p:sp>
      <p:pic>
        <p:nvPicPr>
          <p:cNvPr id="21" name="Image 3" descr="preencoded.png">    </p:cNvPr>
          <p:cNvPicPr>
            <a:picLocks noChangeAspect="1"/>
          </p:cNvPicPr>
          <p:nvPr/>
        </p:nvPicPr>
        <p:blipFill>
          <a:blip r:embed="rId4"/>
          <a:stretch>
            <a:fillRect/>
          </a:stretch>
        </p:blipFill>
        <p:spPr>
          <a:xfrm>
            <a:off x="411480" y="3017520"/>
            <a:ext cx="411480" cy="411480"/>
          </a:xfrm>
          <a:prstGeom prst="rect">
            <a:avLst/>
          </a:prstGeom>
        </p:spPr>
      </p:pic>
      <p:sp>
        <p:nvSpPr>
          <p:cNvPr id="22" name="Text 16"/>
          <p:cNvSpPr/>
          <p:nvPr/>
        </p:nvSpPr>
        <p:spPr>
          <a:xfrm>
            <a:off x="365760" y="3502152"/>
            <a:ext cx="2514600" cy="384048"/>
          </a:xfrm>
          <a:prstGeom prst="rect">
            <a:avLst/>
          </a:prstGeom>
          <a:noFill/>
          <a:ln/>
        </p:spPr>
        <p:txBody>
          <a:bodyPr wrap="square" rtlCol="0" anchor="ctr"/>
          <a:lstStyle/>
          <a:p>
            <a:pPr indent="0" marL="0">
              <a:buNone/>
            </a:pPr>
            <a:r>
              <a:rPr lang="en-US" sz="1300" b="1" dirty="0">
                <a:solidFill>
                  <a:srgbClr val="FFFFFF"/>
                </a:solidFill>
              </a:rPr>
              <a:t>Reduced Manual Effort</a:t>
            </a:r>
            <a:endParaRPr lang="en-US" sz="1300" dirty="0"/>
          </a:p>
        </p:txBody>
      </p:sp>
      <p:sp>
        <p:nvSpPr>
          <p:cNvPr id="23" name="Text 17"/>
          <p:cNvSpPr/>
          <p:nvPr/>
        </p:nvSpPr>
        <p:spPr>
          <a:xfrm>
            <a:off x="365760" y="3867912"/>
            <a:ext cx="2514600" cy="658368"/>
          </a:xfrm>
          <a:prstGeom prst="rect">
            <a:avLst/>
          </a:prstGeom>
          <a:noFill/>
          <a:ln/>
        </p:spPr>
        <p:txBody>
          <a:bodyPr wrap="square" rtlCol="0" anchor="ctr"/>
          <a:lstStyle/>
          <a:p>
            <a:pPr indent="0" marL="0">
              <a:buNone/>
            </a:pPr>
            <a:r>
              <a:rPr lang="en-US" sz="1050" dirty="0">
                <a:solidFill>
                  <a:srgbClr val="C9D1D9"/>
                </a:solidFill>
              </a:rPr>
              <a:t>From hours of searching to a single prompt — workflow runs automatically on demand</a:t>
            </a:r>
            <a:endParaRPr lang="en-US" sz="1050" dirty="0"/>
          </a:p>
        </p:txBody>
      </p:sp>
      <p:sp>
        <p:nvSpPr>
          <p:cNvPr id="24" name="Shape 18"/>
          <p:cNvSpPr/>
          <p:nvPr/>
        </p:nvSpPr>
        <p:spPr>
          <a:xfrm>
            <a:off x="3154680" y="2880360"/>
            <a:ext cx="2697480" cy="1691640"/>
          </a:xfrm>
          <a:prstGeom prst="rect">
            <a:avLst/>
          </a:prstGeom>
          <a:solidFill>
            <a:srgbClr val="21262D"/>
          </a:solidFill>
          <a:ln w="12700">
            <a:solidFill>
              <a:srgbClr val="3FB950">
                <a:alpha val="35000"/>
              </a:srgbClr>
            </a:solidFill>
            <a:prstDash val="solid"/>
          </a:ln>
          <a:effectLst>
            <a:outerShdw sx="100000" sy="100000" kx="0" ky="0" algn="bl" rotWithShape="0" blurRad="101600" dist="38100" dir="8100000">
              <a:srgbClr val="000000">
                <a:alpha val="30000"/>
              </a:srgbClr>
            </a:outerShdw>
          </a:effectLst>
        </p:spPr>
      </p:sp>
      <p:sp>
        <p:nvSpPr>
          <p:cNvPr id="25" name="Shape 19"/>
          <p:cNvSpPr/>
          <p:nvPr/>
        </p:nvSpPr>
        <p:spPr>
          <a:xfrm>
            <a:off x="3154680" y="2880360"/>
            <a:ext cx="2697480" cy="54864"/>
          </a:xfrm>
          <a:prstGeom prst="rect">
            <a:avLst/>
          </a:prstGeom>
          <a:solidFill>
            <a:srgbClr val="3FB950"/>
          </a:solidFill>
          <a:ln w="12700">
            <a:solidFill>
              <a:srgbClr val="3FB950"/>
            </a:solidFill>
            <a:prstDash val="solid"/>
          </a:ln>
        </p:spPr>
      </p:sp>
      <p:pic>
        <p:nvPicPr>
          <p:cNvPr id="26" name="Image 4" descr="preencoded.png">    </p:cNvPr>
          <p:cNvPicPr>
            <a:picLocks noChangeAspect="1"/>
          </p:cNvPicPr>
          <p:nvPr/>
        </p:nvPicPr>
        <p:blipFill>
          <a:blip r:embed="rId5"/>
          <a:stretch>
            <a:fillRect/>
          </a:stretch>
        </p:blipFill>
        <p:spPr>
          <a:xfrm>
            <a:off x="3291840" y="3017520"/>
            <a:ext cx="411480" cy="411480"/>
          </a:xfrm>
          <a:prstGeom prst="rect">
            <a:avLst/>
          </a:prstGeom>
        </p:spPr>
      </p:pic>
      <p:sp>
        <p:nvSpPr>
          <p:cNvPr id="27" name="Text 20"/>
          <p:cNvSpPr/>
          <p:nvPr/>
        </p:nvSpPr>
        <p:spPr>
          <a:xfrm>
            <a:off x="3246120" y="3502152"/>
            <a:ext cx="2514600" cy="384048"/>
          </a:xfrm>
          <a:prstGeom prst="rect">
            <a:avLst/>
          </a:prstGeom>
          <a:noFill/>
          <a:ln/>
        </p:spPr>
        <p:txBody>
          <a:bodyPr wrap="square" rtlCol="0" anchor="ctr"/>
          <a:lstStyle/>
          <a:p>
            <a:pPr indent="0" marL="0">
              <a:buNone/>
            </a:pPr>
            <a:r>
              <a:rPr lang="en-US" sz="1300" b="1" dirty="0">
                <a:solidFill>
                  <a:srgbClr val="FFFFFF"/>
                </a:solidFill>
              </a:rPr>
              <a:t>Scalable API Workflow</a:t>
            </a:r>
            <a:endParaRPr lang="en-US" sz="1300" dirty="0"/>
          </a:p>
        </p:txBody>
      </p:sp>
      <p:sp>
        <p:nvSpPr>
          <p:cNvPr id="28" name="Text 21"/>
          <p:cNvSpPr/>
          <p:nvPr/>
        </p:nvSpPr>
        <p:spPr>
          <a:xfrm>
            <a:off x="3246120" y="3867912"/>
            <a:ext cx="2514600" cy="658368"/>
          </a:xfrm>
          <a:prstGeom prst="rect">
            <a:avLst/>
          </a:prstGeom>
          <a:noFill/>
          <a:ln/>
        </p:spPr>
        <p:txBody>
          <a:bodyPr wrap="square" rtlCol="0" anchor="ctr"/>
          <a:lstStyle/>
          <a:p>
            <a:pPr indent="0" marL="0">
              <a:buNone/>
            </a:pPr>
            <a:r>
              <a:rPr lang="en-US" sz="1050" dirty="0">
                <a:solidFill>
                  <a:srgbClr val="C9D1D9"/>
                </a:solidFill>
              </a:rPr>
              <a:t>Easily extend to new platforms, filters, or job categories by updating the prompt</a:t>
            </a:r>
            <a:endParaRPr lang="en-US" sz="1050" dirty="0"/>
          </a:p>
        </p:txBody>
      </p:sp>
      <p:sp>
        <p:nvSpPr>
          <p:cNvPr id="29" name="Shape 22"/>
          <p:cNvSpPr/>
          <p:nvPr/>
        </p:nvSpPr>
        <p:spPr>
          <a:xfrm>
            <a:off x="6035040" y="2880360"/>
            <a:ext cx="2697480" cy="1691640"/>
          </a:xfrm>
          <a:prstGeom prst="rect">
            <a:avLst/>
          </a:prstGeom>
          <a:solidFill>
            <a:srgbClr val="21262D"/>
          </a:solidFill>
          <a:ln w="12700">
            <a:solidFill>
              <a:srgbClr val="FF7B7B">
                <a:alpha val="35000"/>
              </a:srgbClr>
            </a:solidFill>
            <a:prstDash val="solid"/>
          </a:ln>
          <a:effectLst>
            <a:outerShdw sx="100000" sy="100000" kx="0" ky="0" algn="bl" rotWithShape="0" blurRad="101600" dist="38100" dir="8100000">
              <a:srgbClr val="000000">
                <a:alpha val="30000"/>
              </a:srgbClr>
            </a:outerShdw>
          </a:effectLst>
        </p:spPr>
      </p:sp>
      <p:sp>
        <p:nvSpPr>
          <p:cNvPr id="30" name="Shape 23"/>
          <p:cNvSpPr/>
          <p:nvPr/>
        </p:nvSpPr>
        <p:spPr>
          <a:xfrm>
            <a:off x="6035040" y="2880360"/>
            <a:ext cx="2697480" cy="54864"/>
          </a:xfrm>
          <a:prstGeom prst="rect">
            <a:avLst/>
          </a:prstGeom>
          <a:solidFill>
            <a:srgbClr val="FF7B7B"/>
          </a:solidFill>
          <a:ln w="12700">
            <a:solidFill>
              <a:srgbClr val="FF7B7B"/>
            </a:solidFill>
            <a:prstDash val="solid"/>
          </a:ln>
        </p:spPr>
      </p:sp>
      <p:pic>
        <p:nvPicPr>
          <p:cNvPr id="31" name="Image 5" descr="preencoded.png">    </p:cNvPr>
          <p:cNvPicPr>
            <a:picLocks noChangeAspect="1"/>
          </p:cNvPicPr>
          <p:nvPr/>
        </p:nvPicPr>
        <p:blipFill>
          <a:blip r:embed="rId6"/>
          <a:stretch>
            <a:fillRect/>
          </a:stretch>
        </p:blipFill>
        <p:spPr>
          <a:xfrm>
            <a:off x="6172200" y="3017520"/>
            <a:ext cx="411480" cy="411480"/>
          </a:xfrm>
          <a:prstGeom prst="rect">
            <a:avLst/>
          </a:prstGeom>
        </p:spPr>
      </p:pic>
      <p:sp>
        <p:nvSpPr>
          <p:cNvPr id="32" name="Text 24"/>
          <p:cNvSpPr/>
          <p:nvPr/>
        </p:nvSpPr>
        <p:spPr>
          <a:xfrm>
            <a:off x="6126480" y="3502152"/>
            <a:ext cx="2514600" cy="384048"/>
          </a:xfrm>
          <a:prstGeom prst="rect">
            <a:avLst/>
          </a:prstGeom>
          <a:noFill/>
          <a:ln/>
        </p:spPr>
        <p:txBody>
          <a:bodyPr wrap="square" rtlCol="0" anchor="ctr"/>
          <a:lstStyle/>
          <a:p>
            <a:pPr indent="0" marL="0">
              <a:buNone/>
            </a:pPr>
            <a:r>
              <a:rPr lang="en-US" sz="1300" b="1" dirty="0">
                <a:solidFill>
                  <a:srgbClr val="FFFFFF"/>
                </a:solidFill>
              </a:rPr>
              <a:t>Structured Output</a:t>
            </a:r>
            <a:endParaRPr lang="en-US" sz="1300" dirty="0"/>
          </a:p>
        </p:txBody>
      </p:sp>
      <p:sp>
        <p:nvSpPr>
          <p:cNvPr id="33" name="Text 25"/>
          <p:cNvSpPr/>
          <p:nvPr/>
        </p:nvSpPr>
        <p:spPr>
          <a:xfrm>
            <a:off x="6126480" y="3867912"/>
            <a:ext cx="2514600" cy="658368"/>
          </a:xfrm>
          <a:prstGeom prst="rect">
            <a:avLst/>
          </a:prstGeom>
          <a:noFill/>
          <a:ln/>
        </p:spPr>
        <p:txBody>
          <a:bodyPr wrap="square" rtlCol="0" anchor="ctr"/>
          <a:lstStyle/>
          <a:p>
            <a:pPr indent="0" marL="0">
              <a:buNone/>
            </a:pPr>
            <a:r>
              <a:rPr lang="en-US" sz="1050" dirty="0">
                <a:solidFill>
                  <a:srgbClr val="C9D1D9"/>
                </a:solidFill>
              </a:rPr>
              <a:t>Results returned in clean JSON format — easy to read, sort, or feed into other tools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FB950"/>
          </a:solidFill>
          <a:ln w="12700">
            <a:solidFill>
              <a:srgbClr val="3FB950"/>
            </a:solidFill>
            <a:prstDash val="solid"/>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3000" b="1" dirty="0">
                <a:solidFill>
                  <a:srgbClr val="FFFFFF"/>
                </a:solidFill>
              </a:rPr>
              <a:t>Results &amp; Impact</a:t>
            </a:r>
            <a:endParaRPr lang="en-US" sz="3000" dirty="0"/>
          </a:p>
        </p:txBody>
      </p:sp>
      <p:sp>
        <p:nvSpPr>
          <p:cNvPr id="4" name="Shape 2"/>
          <p:cNvSpPr/>
          <p:nvPr/>
        </p:nvSpPr>
        <p:spPr>
          <a:xfrm>
            <a:off x="365760" y="914400"/>
            <a:ext cx="2606040" cy="1554480"/>
          </a:xfrm>
          <a:prstGeom prst="rect">
            <a:avLst/>
          </a:prstGeom>
          <a:solidFill>
            <a:srgbClr val="21262D"/>
          </a:solidFill>
          <a:ln w="12700">
            <a:solidFill>
              <a:srgbClr val="3FB950">
                <a:alpha val="45000"/>
              </a:srgbClr>
            </a:solidFill>
            <a:prstDash val="solid"/>
          </a:ln>
          <a:effectLst>
            <a:outerShdw sx="100000" sy="100000" kx="0" ky="0" algn="bl" rotWithShape="0" blurRad="101600" dist="38100" dir="8100000">
              <a:srgbClr val="000000">
                <a:alpha val="30000"/>
              </a:srgbClr>
            </a:outerShdw>
          </a:effectLst>
        </p:spPr>
      </p:sp>
      <p:sp>
        <p:nvSpPr>
          <p:cNvPr id="5" name="Text 3"/>
          <p:cNvSpPr/>
          <p:nvPr/>
        </p:nvSpPr>
        <p:spPr>
          <a:xfrm>
            <a:off x="365760" y="1005840"/>
            <a:ext cx="2606040" cy="777240"/>
          </a:xfrm>
          <a:prstGeom prst="rect">
            <a:avLst/>
          </a:prstGeom>
          <a:noFill/>
          <a:ln/>
        </p:spPr>
        <p:txBody>
          <a:bodyPr wrap="square" rtlCol="0" anchor="ctr"/>
          <a:lstStyle/>
          <a:p>
            <a:pPr algn="ctr" indent="0" marL="0">
              <a:buNone/>
            </a:pPr>
            <a:r>
              <a:rPr lang="en-US" sz="4400" b="1" dirty="0">
                <a:solidFill>
                  <a:srgbClr val="3FB950"/>
                </a:solidFill>
              </a:rPr>
              <a:t>80%</a:t>
            </a:r>
            <a:endParaRPr lang="en-US" sz="4400" dirty="0"/>
          </a:p>
        </p:txBody>
      </p:sp>
      <p:sp>
        <p:nvSpPr>
          <p:cNvPr id="6" name="Text 4"/>
          <p:cNvSpPr/>
          <p:nvPr/>
        </p:nvSpPr>
        <p:spPr>
          <a:xfrm>
            <a:off x="365760" y="1737360"/>
            <a:ext cx="2606040" cy="640080"/>
          </a:xfrm>
          <a:prstGeom prst="rect">
            <a:avLst/>
          </a:prstGeom>
          <a:noFill/>
          <a:ln/>
        </p:spPr>
        <p:txBody>
          <a:bodyPr wrap="square" rtlCol="0" anchor="ctr"/>
          <a:lstStyle/>
          <a:p>
            <a:pPr algn="ctr" indent="0" marL="0">
              <a:buNone/>
            </a:pPr>
            <a:r>
              <a:rPr lang="en-US" sz="1200" dirty="0">
                <a:solidFill>
                  <a:srgbClr val="C9D1D9"/>
                </a:solidFill>
              </a:rPr>
              <a:t>Less time</a:t>
            </a:r>
            <a:endParaRPr lang="en-US" sz="1200" dirty="0"/>
          </a:p>
          <a:p>
            <a:pPr algn="ctr" indent="0" marL="0">
              <a:buNone/>
            </a:pPr>
            <a:r>
              <a:rPr lang="en-US" sz="1200" dirty="0">
                <a:solidFill>
                  <a:srgbClr val="C9D1D9"/>
                </a:solidFill>
              </a:rPr>
              <a:t>spent searching</a:t>
            </a:r>
            <a:endParaRPr lang="en-US" sz="1200" dirty="0"/>
          </a:p>
        </p:txBody>
      </p:sp>
      <p:sp>
        <p:nvSpPr>
          <p:cNvPr id="7" name="Shape 5"/>
          <p:cNvSpPr/>
          <p:nvPr/>
        </p:nvSpPr>
        <p:spPr>
          <a:xfrm>
            <a:off x="3200400" y="914400"/>
            <a:ext cx="2606040" cy="1554480"/>
          </a:xfrm>
          <a:prstGeom prst="rect">
            <a:avLst/>
          </a:prstGeom>
          <a:solidFill>
            <a:srgbClr val="21262D"/>
          </a:solidFill>
          <a:ln w="12700">
            <a:solidFill>
              <a:srgbClr val="58A6FF">
                <a:alpha val="45000"/>
              </a:srgbClr>
            </a:solidFill>
            <a:prstDash val="solid"/>
          </a:ln>
          <a:effectLst>
            <a:outerShdw sx="100000" sy="100000" kx="0" ky="0" algn="bl" rotWithShape="0" blurRad="101600" dist="38100" dir="8100000">
              <a:srgbClr val="000000">
                <a:alpha val="30000"/>
              </a:srgbClr>
            </a:outerShdw>
          </a:effectLst>
        </p:spPr>
      </p:sp>
      <p:sp>
        <p:nvSpPr>
          <p:cNvPr id="8" name="Text 6"/>
          <p:cNvSpPr/>
          <p:nvPr/>
        </p:nvSpPr>
        <p:spPr>
          <a:xfrm>
            <a:off x="3200400" y="1005840"/>
            <a:ext cx="2606040" cy="777240"/>
          </a:xfrm>
          <a:prstGeom prst="rect">
            <a:avLst/>
          </a:prstGeom>
          <a:noFill/>
          <a:ln/>
        </p:spPr>
        <p:txBody>
          <a:bodyPr wrap="square" rtlCol="0" anchor="ctr"/>
          <a:lstStyle/>
          <a:p>
            <a:pPr algn="ctr" indent="0" marL="0">
              <a:buNone/>
            </a:pPr>
            <a:r>
              <a:rPr lang="en-US" sz="4400" b="1" dirty="0">
                <a:solidFill>
                  <a:srgbClr val="58A6FF"/>
                </a:solidFill>
              </a:rPr>
              <a:t>3x</a:t>
            </a:r>
            <a:endParaRPr lang="en-US" sz="4400" dirty="0"/>
          </a:p>
        </p:txBody>
      </p:sp>
      <p:sp>
        <p:nvSpPr>
          <p:cNvPr id="9" name="Text 7"/>
          <p:cNvSpPr/>
          <p:nvPr/>
        </p:nvSpPr>
        <p:spPr>
          <a:xfrm>
            <a:off x="3200400" y="1737360"/>
            <a:ext cx="2606040" cy="640080"/>
          </a:xfrm>
          <a:prstGeom prst="rect">
            <a:avLst/>
          </a:prstGeom>
          <a:noFill/>
          <a:ln/>
        </p:spPr>
        <p:txBody>
          <a:bodyPr wrap="square" rtlCol="0" anchor="ctr"/>
          <a:lstStyle/>
          <a:p>
            <a:pPr algn="ctr" indent="0" marL="0">
              <a:buNone/>
            </a:pPr>
            <a:r>
              <a:rPr lang="en-US" sz="1200" dirty="0">
                <a:solidFill>
                  <a:srgbClr val="C9D1D9"/>
                </a:solidFill>
              </a:rPr>
              <a:t>More relevant</a:t>
            </a:r>
            <a:endParaRPr lang="en-US" sz="1200" dirty="0"/>
          </a:p>
          <a:p>
            <a:pPr algn="ctr" indent="0" marL="0">
              <a:buNone/>
            </a:pPr>
            <a:r>
              <a:rPr lang="en-US" sz="1200" dirty="0">
                <a:solidFill>
                  <a:srgbClr val="C9D1D9"/>
                </a:solidFill>
              </a:rPr>
              <a:t>job matches</a:t>
            </a:r>
            <a:endParaRPr lang="en-US" sz="1200" dirty="0"/>
          </a:p>
        </p:txBody>
      </p:sp>
      <p:sp>
        <p:nvSpPr>
          <p:cNvPr id="10" name="Shape 8"/>
          <p:cNvSpPr/>
          <p:nvPr/>
        </p:nvSpPr>
        <p:spPr>
          <a:xfrm>
            <a:off x="6035040" y="914400"/>
            <a:ext cx="2606040" cy="1554480"/>
          </a:xfrm>
          <a:prstGeom prst="rect">
            <a:avLst/>
          </a:prstGeom>
          <a:solidFill>
            <a:srgbClr val="21262D"/>
          </a:solidFill>
          <a:ln w="12700">
            <a:solidFill>
              <a:srgbClr val="FFA657">
                <a:alpha val="45000"/>
              </a:srgbClr>
            </a:solidFill>
            <a:prstDash val="solid"/>
          </a:ln>
          <a:effectLst>
            <a:outerShdw sx="100000" sy="100000" kx="0" ky="0" algn="bl" rotWithShape="0" blurRad="101600" dist="38100" dir="8100000">
              <a:srgbClr val="000000">
                <a:alpha val="30000"/>
              </a:srgbClr>
            </a:outerShdw>
          </a:effectLst>
        </p:spPr>
      </p:sp>
      <p:sp>
        <p:nvSpPr>
          <p:cNvPr id="11" name="Text 9"/>
          <p:cNvSpPr/>
          <p:nvPr/>
        </p:nvSpPr>
        <p:spPr>
          <a:xfrm>
            <a:off x="6035040" y="1005840"/>
            <a:ext cx="2606040" cy="777240"/>
          </a:xfrm>
          <a:prstGeom prst="rect">
            <a:avLst/>
          </a:prstGeom>
          <a:noFill/>
          <a:ln/>
        </p:spPr>
        <p:txBody>
          <a:bodyPr wrap="square" rtlCol="0" anchor="ctr"/>
          <a:lstStyle/>
          <a:p>
            <a:pPr algn="ctr" indent="0" marL="0">
              <a:buNone/>
            </a:pPr>
            <a:r>
              <a:rPr lang="en-US" sz="4400" b="1" dirty="0">
                <a:solidFill>
                  <a:srgbClr val="FFA657"/>
                </a:solidFill>
              </a:rPr>
              <a:t>10+</a:t>
            </a:r>
            <a:endParaRPr lang="en-US" sz="4400" dirty="0"/>
          </a:p>
        </p:txBody>
      </p:sp>
      <p:sp>
        <p:nvSpPr>
          <p:cNvPr id="12" name="Text 10"/>
          <p:cNvSpPr/>
          <p:nvPr/>
        </p:nvSpPr>
        <p:spPr>
          <a:xfrm>
            <a:off x="6035040" y="1737360"/>
            <a:ext cx="2606040" cy="640080"/>
          </a:xfrm>
          <a:prstGeom prst="rect">
            <a:avLst/>
          </a:prstGeom>
          <a:noFill/>
          <a:ln/>
        </p:spPr>
        <p:txBody>
          <a:bodyPr wrap="square" rtlCol="0" anchor="ctr"/>
          <a:lstStyle/>
          <a:p>
            <a:pPr algn="ctr" indent="0" marL="0">
              <a:buNone/>
            </a:pPr>
            <a:r>
              <a:rPr lang="en-US" sz="1200" dirty="0">
                <a:solidFill>
                  <a:srgbClr val="C9D1D9"/>
                </a:solidFill>
              </a:rPr>
              <a:t>Platforms</a:t>
            </a:r>
            <a:endParaRPr lang="en-US" sz="1200" dirty="0"/>
          </a:p>
          <a:p>
            <a:pPr algn="ctr" indent="0" marL="0">
              <a:buNone/>
            </a:pPr>
            <a:r>
              <a:rPr lang="en-US" sz="1200" dirty="0">
                <a:solidFill>
                  <a:srgbClr val="C9D1D9"/>
                </a:solidFill>
              </a:rPr>
              <a:t>automated</a:t>
            </a:r>
            <a:endParaRPr lang="en-US" sz="1200" dirty="0"/>
          </a:p>
        </p:txBody>
      </p:sp>
      <p:sp>
        <p:nvSpPr>
          <p:cNvPr id="13" name="Shape 11"/>
          <p:cNvSpPr/>
          <p:nvPr/>
        </p:nvSpPr>
        <p:spPr>
          <a:xfrm>
            <a:off x="365760" y="2651760"/>
            <a:ext cx="4206240" cy="822960"/>
          </a:xfrm>
          <a:prstGeom prst="rect">
            <a:avLst/>
          </a:prstGeom>
          <a:solidFill>
            <a:srgbClr val="21262D"/>
          </a:solidFill>
          <a:ln w="12700">
            <a:solidFill>
              <a:srgbClr val="3FB950">
                <a:alpha val="25000"/>
              </a:srgbClr>
            </a:solidFill>
            <a:prstDash val="solid"/>
          </a:ln>
          <a:effectLst>
            <a:outerShdw sx="100000" sy="100000" kx="0" ky="0" algn="bl" rotWithShape="0" blurRad="101600" dist="38100" dir="8100000">
              <a:srgbClr val="000000">
                <a:alpha val="30000"/>
              </a:srgbClr>
            </a:outerShdw>
          </a:effectLst>
        </p:spPr>
      </p:sp>
      <p:sp>
        <p:nvSpPr>
          <p:cNvPr id="14" name="Shape 12"/>
          <p:cNvSpPr/>
          <p:nvPr/>
        </p:nvSpPr>
        <p:spPr>
          <a:xfrm>
            <a:off x="365760" y="2651760"/>
            <a:ext cx="64008" cy="822960"/>
          </a:xfrm>
          <a:prstGeom prst="rect">
            <a:avLst/>
          </a:prstGeom>
          <a:solidFill>
            <a:srgbClr val="3FB950"/>
          </a:solidFill>
          <a:ln w="12700">
            <a:solidFill>
              <a:srgbClr val="3FB950"/>
            </a:solidFill>
            <a:prstDash val="solid"/>
          </a:ln>
        </p:spPr>
      </p:sp>
      <p:sp>
        <p:nvSpPr>
          <p:cNvPr id="15" name="Text 13"/>
          <p:cNvSpPr/>
          <p:nvPr/>
        </p:nvSpPr>
        <p:spPr>
          <a:xfrm>
            <a:off x="548640" y="2697480"/>
            <a:ext cx="3840480" cy="320040"/>
          </a:xfrm>
          <a:prstGeom prst="rect">
            <a:avLst/>
          </a:prstGeom>
          <a:noFill/>
          <a:ln/>
        </p:spPr>
        <p:txBody>
          <a:bodyPr wrap="square" rtlCol="0" anchor="ctr"/>
          <a:lstStyle/>
          <a:p>
            <a:pPr indent="0" marL="0">
              <a:buNone/>
            </a:pPr>
            <a:r>
              <a:rPr lang="en-US" sz="1300" b="1" dirty="0">
                <a:solidFill>
                  <a:srgbClr val="FFFFFF"/>
                </a:solidFill>
              </a:rPr>
              <a:t>Faster Discovery</a:t>
            </a:r>
            <a:endParaRPr lang="en-US" sz="1300" dirty="0"/>
          </a:p>
        </p:txBody>
      </p:sp>
      <p:sp>
        <p:nvSpPr>
          <p:cNvPr id="16" name="Text 14"/>
          <p:cNvSpPr/>
          <p:nvPr/>
        </p:nvSpPr>
        <p:spPr>
          <a:xfrm>
            <a:off x="548640" y="3035808"/>
            <a:ext cx="3840480" cy="347472"/>
          </a:xfrm>
          <a:prstGeom prst="rect">
            <a:avLst/>
          </a:prstGeom>
          <a:noFill/>
          <a:ln/>
        </p:spPr>
        <p:txBody>
          <a:bodyPr wrap="square" rtlCol="0" anchor="ctr"/>
          <a:lstStyle/>
          <a:p>
            <a:pPr indent="0" marL="0">
              <a:buNone/>
            </a:pPr>
            <a:r>
              <a:rPr lang="en-US" sz="1100" dirty="0">
                <a:solidFill>
                  <a:srgbClr val="C9D1D9"/>
                </a:solidFill>
              </a:rPr>
              <a:t>Job searching compressed from hours to minutes per session</a:t>
            </a:r>
            <a:endParaRPr lang="en-US" sz="1100" dirty="0"/>
          </a:p>
        </p:txBody>
      </p:sp>
      <p:sp>
        <p:nvSpPr>
          <p:cNvPr id="17" name="Shape 15"/>
          <p:cNvSpPr/>
          <p:nvPr/>
        </p:nvSpPr>
        <p:spPr>
          <a:xfrm>
            <a:off x="4754880" y="2651760"/>
            <a:ext cx="4206240" cy="822960"/>
          </a:xfrm>
          <a:prstGeom prst="rect">
            <a:avLst/>
          </a:prstGeom>
          <a:solidFill>
            <a:srgbClr val="21262D"/>
          </a:solidFill>
          <a:ln w="12700">
            <a:solidFill>
              <a:srgbClr val="3FB950">
                <a:alpha val="25000"/>
              </a:srgbClr>
            </a:solidFill>
            <a:prstDash val="solid"/>
          </a:ln>
          <a:effectLst>
            <a:outerShdw sx="100000" sy="100000" kx="0" ky="0" algn="bl" rotWithShape="0" blurRad="101600" dist="38100" dir="8100000">
              <a:srgbClr val="000000">
                <a:alpha val="30000"/>
              </a:srgbClr>
            </a:outerShdw>
          </a:effectLst>
        </p:spPr>
      </p:sp>
      <p:sp>
        <p:nvSpPr>
          <p:cNvPr id="18" name="Shape 16"/>
          <p:cNvSpPr/>
          <p:nvPr/>
        </p:nvSpPr>
        <p:spPr>
          <a:xfrm>
            <a:off x="4754880" y="2651760"/>
            <a:ext cx="64008" cy="822960"/>
          </a:xfrm>
          <a:prstGeom prst="rect">
            <a:avLst/>
          </a:prstGeom>
          <a:solidFill>
            <a:srgbClr val="3FB950"/>
          </a:solidFill>
          <a:ln w="12700">
            <a:solidFill>
              <a:srgbClr val="3FB950"/>
            </a:solidFill>
            <a:prstDash val="solid"/>
          </a:ln>
        </p:spPr>
      </p:sp>
      <p:sp>
        <p:nvSpPr>
          <p:cNvPr id="19" name="Text 17"/>
          <p:cNvSpPr/>
          <p:nvPr/>
        </p:nvSpPr>
        <p:spPr>
          <a:xfrm>
            <a:off x="4937760" y="2697480"/>
            <a:ext cx="3840480" cy="320040"/>
          </a:xfrm>
          <a:prstGeom prst="rect">
            <a:avLst/>
          </a:prstGeom>
          <a:noFill/>
          <a:ln/>
        </p:spPr>
        <p:txBody>
          <a:bodyPr wrap="square" rtlCol="0" anchor="ctr"/>
          <a:lstStyle/>
          <a:p>
            <a:pPr indent="0" marL="0">
              <a:buNone/>
            </a:pPr>
            <a:r>
              <a:rPr lang="en-US" sz="1300" b="1" dirty="0">
                <a:solidFill>
                  <a:srgbClr val="FFFFFF"/>
                </a:solidFill>
              </a:rPr>
              <a:t>Higher Quality</a:t>
            </a:r>
            <a:endParaRPr lang="en-US" sz="1300" dirty="0"/>
          </a:p>
        </p:txBody>
      </p:sp>
      <p:sp>
        <p:nvSpPr>
          <p:cNvPr id="20" name="Text 18"/>
          <p:cNvSpPr/>
          <p:nvPr/>
        </p:nvSpPr>
        <p:spPr>
          <a:xfrm>
            <a:off x="4937760" y="3035808"/>
            <a:ext cx="3840480" cy="347472"/>
          </a:xfrm>
          <a:prstGeom prst="rect">
            <a:avLst/>
          </a:prstGeom>
          <a:noFill/>
          <a:ln/>
        </p:spPr>
        <p:txBody>
          <a:bodyPr wrap="square" rtlCol="0" anchor="ctr"/>
          <a:lstStyle/>
          <a:p>
            <a:pPr indent="0" marL="0">
              <a:buNone/>
            </a:pPr>
            <a:r>
              <a:rPr lang="en-US" sz="1100" dirty="0">
                <a:solidFill>
                  <a:srgbClr val="C9D1D9"/>
                </a:solidFill>
              </a:rPr>
              <a:t>AI filtering surfaces only contextually relevant opportunities</a:t>
            </a:r>
            <a:endParaRPr lang="en-US" sz="1100" dirty="0"/>
          </a:p>
        </p:txBody>
      </p:sp>
      <p:sp>
        <p:nvSpPr>
          <p:cNvPr id="21" name="Shape 19"/>
          <p:cNvSpPr/>
          <p:nvPr/>
        </p:nvSpPr>
        <p:spPr>
          <a:xfrm>
            <a:off x="365760" y="3657600"/>
            <a:ext cx="4206240" cy="822960"/>
          </a:xfrm>
          <a:prstGeom prst="rect">
            <a:avLst/>
          </a:prstGeom>
          <a:solidFill>
            <a:srgbClr val="21262D"/>
          </a:solidFill>
          <a:ln w="12700">
            <a:solidFill>
              <a:srgbClr val="3FB950">
                <a:alpha val="25000"/>
              </a:srgbClr>
            </a:solidFill>
            <a:prstDash val="solid"/>
          </a:ln>
          <a:effectLst>
            <a:outerShdw sx="100000" sy="100000" kx="0" ky="0" algn="bl" rotWithShape="0" blurRad="101600" dist="38100" dir="8100000">
              <a:srgbClr val="000000">
                <a:alpha val="30000"/>
              </a:srgbClr>
            </a:outerShdw>
          </a:effectLst>
        </p:spPr>
      </p:sp>
      <p:sp>
        <p:nvSpPr>
          <p:cNvPr id="22" name="Shape 20"/>
          <p:cNvSpPr/>
          <p:nvPr/>
        </p:nvSpPr>
        <p:spPr>
          <a:xfrm>
            <a:off x="365760" y="3657600"/>
            <a:ext cx="64008" cy="822960"/>
          </a:xfrm>
          <a:prstGeom prst="rect">
            <a:avLst/>
          </a:prstGeom>
          <a:solidFill>
            <a:srgbClr val="3FB950"/>
          </a:solidFill>
          <a:ln w="12700">
            <a:solidFill>
              <a:srgbClr val="3FB950"/>
            </a:solidFill>
            <a:prstDash val="solid"/>
          </a:ln>
        </p:spPr>
      </p:sp>
      <p:sp>
        <p:nvSpPr>
          <p:cNvPr id="23" name="Text 21"/>
          <p:cNvSpPr/>
          <p:nvPr/>
        </p:nvSpPr>
        <p:spPr>
          <a:xfrm>
            <a:off x="548640" y="3703320"/>
            <a:ext cx="3840480" cy="320040"/>
          </a:xfrm>
          <a:prstGeom prst="rect">
            <a:avLst/>
          </a:prstGeom>
          <a:noFill/>
          <a:ln/>
        </p:spPr>
        <p:txBody>
          <a:bodyPr wrap="square" rtlCol="0" anchor="ctr"/>
          <a:lstStyle/>
          <a:p>
            <a:pPr indent="0" marL="0">
              <a:buNone/>
            </a:pPr>
            <a:r>
              <a:rPr lang="en-US" sz="1300" b="1" dirty="0">
                <a:solidFill>
                  <a:srgbClr val="FFFFFF"/>
                </a:solidFill>
              </a:rPr>
              <a:t>Zero Platform Lock-in</a:t>
            </a:r>
            <a:endParaRPr lang="en-US" sz="1300" dirty="0"/>
          </a:p>
        </p:txBody>
      </p:sp>
      <p:sp>
        <p:nvSpPr>
          <p:cNvPr id="24" name="Text 22"/>
          <p:cNvSpPr/>
          <p:nvPr/>
        </p:nvSpPr>
        <p:spPr>
          <a:xfrm>
            <a:off x="548640" y="4041648"/>
            <a:ext cx="3840480" cy="347472"/>
          </a:xfrm>
          <a:prstGeom prst="rect">
            <a:avLst/>
          </a:prstGeom>
          <a:noFill/>
          <a:ln/>
        </p:spPr>
        <p:txBody>
          <a:bodyPr wrap="square" rtlCol="0" anchor="ctr"/>
          <a:lstStyle/>
          <a:p>
            <a:pPr indent="0" marL="0">
              <a:buNone/>
            </a:pPr>
            <a:r>
              <a:rPr lang="en-US" sz="1100" dirty="0">
                <a:solidFill>
                  <a:srgbClr val="C9D1D9"/>
                </a:solidFill>
              </a:rPr>
              <a:t>Apify enables scraping any job platform with minimal config</a:t>
            </a:r>
            <a:endParaRPr lang="en-US" sz="1100" dirty="0"/>
          </a:p>
        </p:txBody>
      </p:sp>
      <p:sp>
        <p:nvSpPr>
          <p:cNvPr id="25" name="Shape 23"/>
          <p:cNvSpPr/>
          <p:nvPr/>
        </p:nvSpPr>
        <p:spPr>
          <a:xfrm>
            <a:off x="4754880" y="3657600"/>
            <a:ext cx="4206240" cy="822960"/>
          </a:xfrm>
          <a:prstGeom prst="rect">
            <a:avLst/>
          </a:prstGeom>
          <a:solidFill>
            <a:srgbClr val="21262D"/>
          </a:solidFill>
          <a:ln w="12700">
            <a:solidFill>
              <a:srgbClr val="3FB950">
                <a:alpha val="25000"/>
              </a:srgbClr>
            </a:solidFill>
            <a:prstDash val="solid"/>
          </a:ln>
          <a:effectLst>
            <a:outerShdw sx="100000" sy="100000" kx="0" ky="0" algn="bl" rotWithShape="0" blurRad="101600" dist="38100" dir="8100000">
              <a:srgbClr val="000000">
                <a:alpha val="30000"/>
              </a:srgbClr>
            </a:outerShdw>
          </a:effectLst>
        </p:spPr>
      </p:sp>
      <p:sp>
        <p:nvSpPr>
          <p:cNvPr id="26" name="Shape 24"/>
          <p:cNvSpPr/>
          <p:nvPr/>
        </p:nvSpPr>
        <p:spPr>
          <a:xfrm>
            <a:off x="4754880" y="3657600"/>
            <a:ext cx="64008" cy="822960"/>
          </a:xfrm>
          <a:prstGeom prst="rect">
            <a:avLst/>
          </a:prstGeom>
          <a:solidFill>
            <a:srgbClr val="3FB950"/>
          </a:solidFill>
          <a:ln w="12700">
            <a:solidFill>
              <a:srgbClr val="3FB950"/>
            </a:solidFill>
            <a:prstDash val="solid"/>
          </a:ln>
        </p:spPr>
      </p:sp>
      <p:sp>
        <p:nvSpPr>
          <p:cNvPr id="27" name="Text 25"/>
          <p:cNvSpPr/>
          <p:nvPr/>
        </p:nvSpPr>
        <p:spPr>
          <a:xfrm>
            <a:off x="4937760" y="3703320"/>
            <a:ext cx="3840480" cy="320040"/>
          </a:xfrm>
          <a:prstGeom prst="rect">
            <a:avLst/>
          </a:prstGeom>
          <a:noFill/>
          <a:ln/>
        </p:spPr>
        <p:txBody>
          <a:bodyPr wrap="square" rtlCol="0" anchor="ctr"/>
          <a:lstStyle/>
          <a:p>
            <a:pPr indent="0" marL="0">
              <a:buNone/>
            </a:pPr>
            <a:r>
              <a:rPr lang="en-US" sz="1300" b="1" dirty="0">
                <a:solidFill>
                  <a:srgbClr val="FFFFFF"/>
                </a:solidFill>
              </a:rPr>
              <a:t>Reusable Workflow</a:t>
            </a:r>
            <a:endParaRPr lang="en-US" sz="1300" dirty="0"/>
          </a:p>
        </p:txBody>
      </p:sp>
      <p:sp>
        <p:nvSpPr>
          <p:cNvPr id="28" name="Text 26"/>
          <p:cNvSpPr/>
          <p:nvPr/>
        </p:nvSpPr>
        <p:spPr>
          <a:xfrm>
            <a:off x="4937760" y="4041648"/>
            <a:ext cx="3840480" cy="347472"/>
          </a:xfrm>
          <a:prstGeom prst="rect">
            <a:avLst/>
          </a:prstGeom>
          <a:noFill/>
          <a:ln/>
        </p:spPr>
        <p:txBody>
          <a:bodyPr wrap="square" rtlCol="0" anchor="ctr"/>
          <a:lstStyle/>
          <a:p>
            <a:pPr indent="0" marL="0">
              <a:buNone/>
            </a:pPr>
            <a:r>
              <a:rPr lang="en-US" sz="1100" dirty="0">
                <a:solidFill>
                  <a:srgbClr val="C9D1D9"/>
                </a:solidFill>
              </a:rPr>
              <a:t>The same prompt template works for any job seeker with any resume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2A8FF"/>
          </a:solidFill>
          <a:ln w="12700">
            <a:solidFill>
              <a:srgbClr val="D2A8FF"/>
            </a:solidFill>
            <a:prstDash val="solid"/>
          </a:ln>
        </p:spPr>
      </p:sp>
      <p:sp>
        <p:nvSpPr>
          <p:cNvPr id="3" name="Text 1"/>
          <p:cNvSpPr/>
          <p:nvPr/>
        </p:nvSpPr>
        <p:spPr>
          <a:xfrm>
            <a:off x="457200" y="182880"/>
            <a:ext cx="8229600" cy="502920"/>
          </a:xfrm>
          <a:prstGeom prst="rect">
            <a:avLst/>
          </a:prstGeom>
          <a:noFill/>
          <a:ln/>
        </p:spPr>
        <p:txBody>
          <a:bodyPr wrap="square" rtlCol="0" anchor="ctr"/>
          <a:lstStyle/>
          <a:p>
            <a:pPr indent="0" marL="0">
              <a:buNone/>
            </a:pPr>
            <a:r>
              <a:rPr lang="en-US" sz="3000" b="1" dirty="0">
                <a:solidFill>
                  <a:srgbClr val="FFFFFF"/>
                </a:solidFill>
              </a:rPr>
              <a:t>Future Enhancements</a:t>
            </a:r>
            <a:endParaRPr lang="en-US" sz="3000" dirty="0"/>
          </a:p>
        </p:txBody>
      </p:sp>
      <p:sp>
        <p:nvSpPr>
          <p:cNvPr id="4" name="Shape 2"/>
          <p:cNvSpPr/>
          <p:nvPr/>
        </p:nvSpPr>
        <p:spPr>
          <a:xfrm>
            <a:off x="274320" y="868680"/>
            <a:ext cx="4251960" cy="1234440"/>
          </a:xfrm>
          <a:prstGeom prst="rect">
            <a:avLst/>
          </a:prstGeom>
          <a:solidFill>
            <a:srgbClr val="21262D"/>
          </a:solidFill>
          <a:ln w="12700">
            <a:solidFill>
              <a:srgbClr val="58A6FF">
                <a:alpha val="35000"/>
              </a:srgbClr>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274320" y="868680"/>
            <a:ext cx="731520" cy="347472"/>
          </a:xfrm>
          <a:prstGeom prst="rect">
            <a:avLst/>
          </a:prstGeom>
          <a:solidFill>
            <a:srgbClr val="58A6FF">
              <a:alpha val="30000"/>
            </a:srgbClr>
          </a:solidFill>
          <a:ln w="12700">
            <a:solidFill>
              <a:srgbClr val="58A6FF">
                <a:alpha val="30000"/>
              </a:srgbClr>
            </a:solidFill>
            <a:prstDash val="solid"/>
          </a:ln>
        </p:spPr>
      </p:sp>
      <p:sp>
        <p:nvSpPr>
          <p:cNvPr id="6" name="Text 4"/>
          <p:cNvSpPr/>
          <p:nvPr/>
        </p:nvSpPr>
        <p:spPr>
          <a:xfrm>
            <a:off x="274320" y="868680"/>
            <a:ext cx="731520" cy="347472"/>
          </a:xfrm>
          <a:prstGeom prst="rect">
            <a:avLst/>
          </a:prstGeom>
          <a:noFill/>
          <a:ln/>
        </p:spPr>
        <p:txBody>
          <a:bodyPr wrap="square" rtlCol="0" anchor="ctr"/>
          <a:lstStyle/>
          <a:p>
            <a:pPr algn="ctr" indent="0" marL="0">
              <a:buNone/>
            </a:pPr>
            <a:r>
              <a:rPr lang="en-US" sz="900" b="1" dirty="0">
                <a:solidFill>
                  <a:srgbClr val="58A6FF"/>
                </a:solidFill>
              </a:rPr>
              <a:t>Phase 1</a:t>
            </a:r>
            <a:endParaRPr lang="en-US" sz="900" dirty="0"/>
          </a:p>
        </p:txBody>
      </p:sp>
      <p:pic>
        <p:nvPicPr>
          <p:cNvPr id="7" name="Image 0" descr="preencoded.png">    </p:cNvPr>
          <p:cNvPicPr>
            <a:picLocks noChangeAspect="1"/>
          </p:cNvPicPr>
          <p:nvPr/>
        </p:nvPicPr>
        <p:blipFill>
          <a:blip r:embed="rId1"/>
          <a:stretch>
            <a:fillRect/>
          </a:stretch>
        </p:blipFill>
        <p:spPr>
          <a:xfrm>
            <a:off x="411480" y="1280160"/>
            <a:ext cx="411480" cy="411480"/>
          </a:xfrm>
          <a:prstGeom prst="rect">
            <a:avLst/>
          </a:prstGeom>
        </p:spPr>
      </p:pic>
      <p:sp>
        <p:nvSpPr>
          <p:cNvPr id="8" name="Text 5"/>
          <p:cNvSpPr/>
          <p:nvPr/>
        </p:nvSpPr>
        <p:spPr>
          <a:xfrm>
            <a:off x="932688" y="1252728"/>
            <a:ext cx="3429000" cy="347472"/>
          </a:xfrm>
          <a:prstGeom prst="rect">
            <a:avLst/>
          </a:prstGeom>
          <a:noFill/>
          <a:ln/>
        </p:spPr>
        <p:txBody>
          <a:bodyPr wrap="square" rtlCol="0" anchor="ctr"/>
          <a:lstStyle/>
          <a:p>
            <a:pPr indent="0" marL="0">
              <a:buNone/>
            </a:pPr>
            <a:r>
              <a:rPr lang="en-US" sz="1400" b="1" dirty="0">
                <a:solidFill>
                  <a:srgbClr val="FFFFFF"/>
                </a:solidFill>
              </a:rPr>
              <a:t>Auto-Apply Bot</a:t>
            </a:r>
            <a:endParaRPr lang="en-US" sz="1400" dirty="0"/>
          </a:p>
        </p:txBody>
      </p:sp>
      <p:sp>
        <p:nvSpPr>
          <p:cNvPr id="9" name="Text 6"/>
          <p:cNvSpPr/>
          <p:nvPr/>
        </p:nvSpPr>
        <p:spPr>
          <a:xfrm>
            <a:off x="932688" y="1618488"/>
            <a:ext cx="3429000" cy="384048"/>
          </a:xfrm>
          <a:prstGeom prst="rect">
            <a:avLst/>
          </a:prstGeom>
          <a:noFill/>
          <a:ln/>
        </p:spPr>
        <p:txBody>
          <a:bodyPr wrap="square" rtlCol="0" anchor="ctr"/>
          <a:lstStyle/>
          <a:p>
            <a:pPr indent="0" marL="0">
              <a:buNone/>
            </a:pPr>
            <a:r>
              <a:rPr lang="en-US" sz="1100" dirty="0">
                <a:solidFill>
                  <a:srgbClr val="C9D1D9"/>
                </a:solidFill>
              </a:rPr>
              <a:t>Extend workflow to auto-fill and submit applications to pre-screened jobs</a:t>
            </a:r>
            <a:endParaRPr lang="en-US" sz="1100" dirty="0"/>
          </a:p>
        </p:txBody>
      </p:sp>
      <p:sp>
        <p:nvSpPr>
          <p:cNvPr id="10" name="Shape 7"/>
          <p:cNvSpPr/>
          <p:nvPr/>
        </p:nvSpPr>
        <p:spPr>
          <a:xfrm>
            <a:off x="4709160" y="868680"/>
            <a:ext cx="4251960" cy="1234440"/>
          </a:xfrm>
          <a:prstGeom prst="rect">
            <a:avLst/>
          </a:prstGeom>
          <a:solidFill>
            <a:srgbClr val="21262D"/>
          </a:solidFill>
          <a:ln w="12700">
            <a:solidFill>
              <a:srgbClr val="D2A8FF">
                <a:alpha val="35000"/>
              </a:srgbClr>
            </a:solidFill>
            <a:prstDash val="solid"/>
          </a:ln>
          <a:effectLst>
            <a:outerShdw sx="100000" sy="100000" kx="0" ky="0" algn="bl" rotWithShape="0" blurRad="101600" dist="38100" dir="8100000">
              <a:srgbClr val="000000">
                <a:alpha val="30000"/>
              </a:srgbClr>
            </a:outerShdw>
          </a:effectLst>
        </p:spPr>
      </p:sp>
      <p:sp>
        <p:nvSpPr>
          <p:cNvPr id="11" name="Shape 8"/>
          <p:cNvSpPr/>
          <p:nvPr/>
        </p:nvSpPr>
        <p:spPr>
          <a:xfrm>
            <a:off x="4709160" y="868680"/>
            <a:ext cx="731520" cy="347472"/>
          </a:xfrm>
          <a:prstGeom prst="rect">
            <a:avLst/>
          </a:prstGeom>
          <a:solidFill>
            <a:srgbClr val="D2A8FF">
              <a:alpha val="30000"/>
            </a:srgbClr>
          </a:solidFill>
          <a:ln w="12700">
            <a:solidFill>
              <a:srgbClr val="D2A8FF">
                <a:alpha val="30000"/>
              </a:srgbClr>
            </a:solidFill>
            <a:prstDash val="solid"/>
          </a:ln>
        </p:spPr>
      </p:sp>
      <p:sp>
        <p:nvSpPr>
          <p:cNvPr id="12" name="Text 9"/>
          <p:cNvSpPr/>
          <p:nvPr/>
        </p:nvSpPr>
        <p:spPr>
          <a:xfrm>
            <a:off x="4709160" y="868680"/>
            <a:ext cx="731520" cy="347472"/>
          </a:xfrm>
          <a:prstGeom prst="rect">
            <a:avLst/>
          </a:prstGeom>
          <a:noFill/>
          <a:ln/>
        </p:spPr>
        <p:txBody>
          <a:bodyPr wrap="square" rtlCol="0" anchor="ctr"/>
          <a:lstStyle/>
          <a:p>
            <a:pPr algn="ctr" indent="0" marL="0">
              <a:buNone/>
            </a:pPr>
            <a:r>
              <a:rPr lang="en-US" sz="900" b="1" dirty="0">
                <a:solidFill>
                  <a:srgbClr val="D2A8FF"/>
                </a:solidFill>
              </a:rPr>
              <a:t>Phase 2</a:t>
            </a:r>
            <a:endParaRPr lang="en-US" sz="900" dirty="0"/>
          </a:p>
        </p:txBody>
      </p:sp>
      <p:pic>
        <p:nvPicPr>
          <p:cNvPr id="13" name="Image 1" descr="preencoded.png">    </p:cNvPr>
          <p:cNvPicPr>
            <a:picLocks noChangeAspect="1"/>
          </p:cNvPicPr>
          <p:nvPr/>
        </p:nvPicPr>
        <p:blipFill>
          <a:blip r:embed="rId2"/>
          <a:stretch>
            <a:fillRect/>
          </a:stretch>
        </p:blipFill>
        <p:spPr>
          <a:xfrm>
            <a:off x="4846320" y="1280160"/>
            <a:ext cx="411480" cy="411480"/>
          </a:xfrm>
          <a:prstGeom prst="rect">
            <a:avLst/>
          </a:prstGeom>
        </p:spPr>
      </p:pic>
      <p:sp>
        <p:nvSpPr>
          <p:cNvPr id="14" name="Text 10"/>
          <p:cNvSpPr/>
          <p:nvPr/>
        </p:nvSpPr>
        <p:spPr>
          <a:xfrm>
            <a:off x="5367528" y="1252728"/>
            <a:ext cx="3429000" cy="347472"/>
          </a:xfrm>
          <a:prstGeom prst="rect">
            <a:avLst/>
          </a:prstGeom>
          <a:noFill/>
          <a:ln/>
        </p:spPr>
        <p:txBody>
          <a:bodyPr wrap="square" rtlCol="0" anchor="ctr"/>
          <a:lstStyle/>
          <a:p>
            <a:pPr indent="0" marL="0">
              <a:buNone/>
            </a:pPr>
            <a:r>
              <a:rPr lang="en-US" sz="1400" b="1" dirty="0">
                <a:solidFill>
                  <a:srgbClr val="FFFFFF"/>
                </a:solidFill>
              </a:rPr>
              <a:t>Match Score Dashboard</a:t>
            </a:r>
            <a:endParaRPr lang="en-US" sz="1400" dirty="0"/>
          </a:p>
        </p:txBody>
      </p:sp>
      <p:sp>
        <p:nvSpPr>
          <p:cNvPr id="15" name="Text 11"/>
          <p:cNvSpPr/>
          <p:nvPr/>
        </p:nvSpPr>
        <p:spPr>
          <a:xfrm>
            <a:off x="5367528" y="1618488"/>
            <a:ext cx="3429000" cy="384048"/>
          </a:xfrm>
          <a:prstGeom prst="rect">
            <a:avLst/>
          </a:prstGeom>
          <a:noFill/>
          <a:ln/>
        </p:spPr>
        <p:txBody>
          <a:bodyPr wrap="square" rtlCol="0" anchor="ctr"/>
          <a:lstStyle/>
          <a:p>
            <a:pPr indent="0" marL="0">
              <a:buNone/>
            </a:pPr>
            <a:r>
              <a:rPr lang="en-US" sz="1100" dirty="0">
                <a:solidFill>
                  <a:srgbClr val="C9D1D9"/>
                </a:solidFill>
              </a:rPr>
              <a:t>Visual dashboard showing job match percentages and application tracking</a:t>
            </a:r>
            <a:endParaRPr lang="en-US" sz="1100" dirty="0"/>
          </a:p>
        </p:txBody>
      </p:sp>
      <p:sp>
        <p:nvSpPr>
          <p:cNvPr id="16" name="Shape 12"/>
          <p:cNvSpPr/>
          <p:nvPr/>
        </p:nvSpPr>
        <p:spPr>
          <a:xfrm>
            <a:off x="274320" y="2286000"/>
            <a:ext cx="4251960" cy="1234440"/>
          </a:xfrm>
          <a:prstGeom prst="rect">
            <a:avLst/>
          </a:prstGeom>
          <a:solidFill>
            <a:srgbClr val="21262D"/>
          </a:solidFill>
          <a:ln w="12700">
            <a:solidFill>
              <a:srgbClr val="FFA657">
                <a:alpha val="35000"/>
              </a:srgbClr>
            </a:solidFill>
            <a:prstDash val="solid"/>
          </a:ln>
          <a:effectLst>
            <a:outerShdw sx="100000" sy="100000" kx="0" ky="0" algn="bl" rotWithShape="0" blurRad="101600" dist="38100" dir="8100000">
              <a:srgbClr val="000000">
                <a:alpha val="30000"/>
              </a:srgbClr>
            </a:outerShdw>
          </a:effectLst>
        </p:spPr>
      </p:sp>
      <p:sp>
        <p:nvSpPr>
          <p:cNvPr id="17" name="Shape 13"/>
          <p:cNvSpPr/>
          <p:nvPr/>
        </p:nvSpPr>
        <p:spPr>
          <a:xfrm>
            <a:off x="274320" y="2286000"/>
            <a:ext cx="731520" cy="347472"/>
          </a:xfrm>
          <a:prstGeom prst="rect">
            <a:avLst/>
          </a:prstGeom>
          <a:solidFill>
            <a:srgbClr val="FFA657">
              <a:alpha val="30000"/>
            </a:srgbClr>
          </a:solidFill>
          <a:ln w="12700">
            <a:solidFill>
              <a:srgbClr val="FFA657">
                <a:alpha val="30000"/>
              </a:srgbClr>
            </a:solidFill>
            <a:prstDash val="solid"/>
          </a:ln>
        </p:spPr>
      </p:sp>
      <p:sp>
        <p:nvSpPr>
          <p:cNvPr id="18" name="Text 14"/>
          <p:cNvSpPr/>
          <p:nvPr/>
        </p:nvSpPr>
        <p:spPr>
          <a:xfrm>
            <a:off x="274320" y="2286000"/>
            <a:ext cx="731520" cy="347472"/>
          </a:xfrm>
          <a:prstGeom prst="rect">
            <a:avLst/>
          </a:prstGeom>
          <a:noFill/>
          <a:ln/>
        </p:spPr>
        <p:txBody>
          <a:bodyPr wrap="square" rtlCol="0" anchor="ctr"/>
          <a:lstStyle/>
          <a:p>
            <a:pPr algn="ctr" indent="0" marL="0">
              <a:buNone/>
            </a:pPr>
            <a:r>
              <a:rPr lang="en-US" sz="900" b="1" dirty="0">
                <a:solidFill>
                  <a:srgbClr val="FFA657"/>
                </a:solidFill>
              </a:rPr>
              <a:t>Phase 3</a:t>
            </a:r>
            <a:endParaRPr lang="en-US" sz="900" dirty="0"/>
          </a:p>
        </p:txBody>
      </p:sp>
      <p:pic>
        <p:nvPicPr>
          <p:cNvPr id="19" name="Image 2" descr="preencoded.png">    </p:cNvPr>
          <p:cNvPicPr>
            <a:picLocks noChangeAspect="1"/>
          </p:cNvPicPr>
          <p:nvPr/>
        </p:nvPicPr>
        <p:blipFill>
          <a:blip r:embed="rId3"/>
          <a:stretch>
            <a:fillRect/>
          </a:stretch>
        </p:blipFill>
        <p:spPr>
          <a:xfrm>
            <a:off x="411480" y="2697480"/>
            <a:ext cx="411480" cy="411480"/>
          </a:xfrm>
          <a:prstGeom prst="rect">
            <a:avLst/>
          </a:prstGeom>
        </p:spPr>
      </p:pic>
      <p:sp>
        <p:nvSpPr>
          <p:cNvPr id="20" name="Text 15"/>
          <p:cNvSpPr/>
          <p:nvPr/>
        </p:nvSpPr>
        <p:spPr>
          <a:xfrm>
            <a:off x="932688" y="2670048"/>
            <a:ext cx="3429000" cy="347472"/>
          </a:xfrm>
          <a:prstGeom prst="rect">
            <a:avLst/>
          </a:prstGeom>
          <a:noFill/>
          <a:ln/>
        </p:spPr>
        <p:txBody>
          <a:bodyPr wrap="square" rtlCol="0" anchor="ctr"/>
          <a:lstStyle/>
          <a:p>
            <a:pPr indent="0" marL="0">
              <a:buNone/>
            </a:pPr>
            <a:r>
              <a:rPr lang="en-US" sz="1400" b="1" dirty="0">
                <a:solidFill>
                  <a:srgbClr val="FFFFFF"/>
                </a:solidFill>
              </a:rPr>
              <a:t>Personalized Alerts</a:t>
            </a:r>
            <a:endParaRPr lang="en-US" sz="1400" dirty="0"/>
          </a:p>
        </p:txBody>
      </p:sp>
      <p:sp>
        <p:nvSpPr>
          <p:cNvPr id="21" name="Text 16"/>
          <p:cNvSpPr/>
          <p:nvPr/>
        </p:nvSpPr>
        <p:spPr>
          <a:xfrm>
            <a:off x="932688" y="3035808"/>
            <a:ext cx="3429000" cy="384048"/>
          </a:xfrm>
          <a:prstGeom prst="rect">
            <a:avLst/>
          </a:prstGeom>
          <a:noFill/>
          <a:ln/>
        </p:spPr>
        <p:txBody>
          <a:bodyPr wrap="square" rtlCol="0" anchor="ctr"/>
          <a:lstStyle/>
          <a:p>
            <a:pPr indent="0" marL="0">
              <a:buNone/>
            </a:pPr>
            <a:r>
              <a:rPr lang="en-US" sz="1100" dirty="0">
                <a:solidFill>
                  <a:srgbClr val="C9D1D9"/>
                </a:solidFill>
              </a:rPr>
              <a:t>Daily digest emails with new matching jobs using scheduled triggers</a:t>
            </a:r>
            <a:endParaRPr lang="en-US" sz="1100" dirty="0"/>
          </a:p>
        </p:txBody>
      </p:sp>
      <p:sp>
        <p:nvSpPr>
          <p:cNvPr id="22" name="Shape 17"/>
          <p:cNvSpPr/>
          <p:nvPr/>
        </p:nvSpPr>
        <p:spPr>
          <a:xfrm>
            <a:off x="4709160" y="2286000"/>
            <a:ext cx="4251960" cy="1234440"/>
          </a:xfrm>
          <a:prstGeom prst="rect">
            <a:avLst/>
          </a:prstGeom>
          <a:solidFill>
            <a:srgbClr val="21262D"/>
          </a:solidFill>
          <a:ln w="12700">
            <a:solidFill>
              <a:srgbClr val="3FB950">
                <a:alpha val="35000"/>
              </a:srgbClr>
            </a:solidFill>
            <a:prstDash val="solid"/>
          </a:ln>
          <a:effectLst>
            <a:outerShdw sx="100000" sy="100000" kx="0" ky="0" algn="bl" rotWithShape="0" blurRad="101600" dist="38100" dir="8100000">
              <a:srgbClr val="000000">
                <a:alpha val="30000"/>
              </a:srgbClr>
            </a:outerShdw>
          </a:effectLst>
        </p:spPr>
      </p:sp>
      <p:sp>
        <p:nvSpPr>
          <p:cNvPr id="23" name="Shape 18"/>
          <p:cNvSpPr/>
          <p:nvPr/>
        </p:nvSpPr>
        <p:spPr>
          <a:xfrm>
            <a:off x="4709160" y="2286000"/>
            <a:ext cx="731520" cy="347472"/>
          </a:xfrm>
          <a:prstGeom prst="rect">
            <a:avLst/>
          </a:prstGeom>
          <a:solidFill>
            <a:srgbClr val="3FB950">
              <a:alpha val="30000"/>
            </a:srgbClr>
          </a:solidFill>
          <a:ln w="12700">
            <a:solidFill>
              <a:srgbClr val="3FB950">
                <a:alpha val="30000"/>
              </a:srgbClr>
            </a:solidFill>
            <a:prstDash val="solid"/>
          </a:ln>
        </p:spPr>
      </p:sp>
      <p:sp>
        <p:nvSpPr>
          <p:cNvPr id="24" name="Text 19"/>
          <p:cNvSpPr/>
          <p:nvPr/>
        </p:nvSpPr>
        <p:spPr>
          <a:xfrm>
            <a:off x="4709160" y="2286000"/>
            <a:ext cx="731520" cy="347472"/>
          </a:xfrm>
          <a:prstGeom prst="rect">
            <a:avLst/>
          </a:prstGeom>
          <a:noFill/>
          <a:ln/>
        </p:spPr>
        <p:txBody>
          <a:bodyPr wrap="square" rtlCol="0" anchor="ctr"/>
          <a:lstStyle/>
          <a:p>
            <a:pPr algn="ctr" indent="0" marL="0">
              <a:buNone/>
            </a:pPr>
            <a:r>
              <a:rPr lang="en-US" sz="900" b="1" dirty="0">
                <a:solidFill>
                  <a:srgbClr val="3FB950"/>
                </a:solidFill>
              </a:rPr>
              <a:t>Phase 4</a:t>
            </a:r>
            <a:endParaRPr lang="en-US" sz="900" dirty="0"/>
          </a:p>
        </p:txBody>
      </p:sp>
      <p:pic>
        <p:nvPicPr>
          <p:cNvPr id="25" name="Image 3" descr="preencoded.png">    </p:cNvPr>
          <p:cNvPicPr>
            <a:picLocks noChangeAspect="1"/>
          </p:cNvPicPr>
          <p:nvPr/>
        </p:nvPicPr>
        <p:blipFill>
          <a:blip r:embed="rId4"/>
          <a:stretch>
            <a:fillRect/>
          </a:stretch>
        </p:blipFill>
        <p:spPr>
          <a:xfrm>
            <a:off x="4846320" y="2697480"/>
            <a:ext cx="411480" cy="411480"/>
          </a:xfrm>
          <a:prstGeom prst="rect">
            <a:avLst/>
          </a:prstGeom>
        </p:spPr>
      </p:pic>
      <p:sp>
        <p:nvSpPr>
          <p:cNvPr id="26" name="Text 20"/>
          <p:cNvSpPr/>
          <p:nvPr/>
        </p:nvSpPr>
        <p:spPr>
          <a:xfrm>
            <a:off x="5367528" y="2670048"/>
            <a:ext cx="3429000" cy="347472"/>
          </a:xfrm>
          <a:prstGeom prst="rect">
            <a:avLst/>
          </a:prstGeom>
          <a:noFill/>
          <a:ln/>
        </p:spPr>
        <p:txBody>
          <a:bodyPr wrap="square" rtlCol="0" anchor="ctr"/>
          <a:lstStyle/>
          <a:p>
            <a:pPr indent="0" marL="0">
              <a:buNone/>
            </a:pPr>
            <a:r>
              <a:rPr lang="en-US" sz="1400" b="1" dirty="0">
                <a:solidFill>
                  <a:srgbClr val="FFFFFF"/>
                </a:solidFill>
              </a:rPr>
              <a:t>Multi-Resume Support</a:t>
            </a:r>
            <a:endParaRPr lang="en-US" sz="1400" dirty="0"/>
          </a:p>
        </p:txBody>
      </p:sp>
      <p:sp>
        <p:nvSpPr>
          <p:cNvPr id="27" name="Text 21"/>
          <p:cNvSpPr/>
          <p:nvPr/>
        </p:nvSpPr>
        <p:spPr>
          <a:xfrm>
            <a:off x="5367528" y="3035808"/>
            <a:ext cx="3429000" cy="384048"/>
          </a:xfrm>
          <a:prstGeom prst="rect">
            <a:avLst/>
          </a:prstGeom>
          <a:noFill/>
          <a:ln/>
        </p:spPr>
        <p:txBody>
          <a:bodyPr wrap="square" rtlCol="0" anchor="ctr"/>
          <a:lstStyle/>
          <a:p>
            <a:pPr indent="0" marL="0">
              <a:buNone/>
            </a:pPr>
            <a:r>
              <a:rPr lang="en-US" sz="1100" dirty="0">
                <a:solidFill>
                  <a:srgbClr val="C9D1D9"/>
                </a:solidFill>
              </a:rPr>
              <a:t>Handle multiple resume versions for different job types or career pivots</a:t>
            </a:r>
            <a:endParaRPr lang="en-US" sz="1100" dirty="0"/>
          </a:p>
        </p:txBody>
      </p:sp>
      <p:sp>
        <p:nvSpPr>
          <p:cNvPr id="28" name="Shape 22"/>
          <p:cNvSpPr/>
          <p:nvPr/>
        </p:nvSpPr>
        <p:spPr>
          <a:xfrm>
            <a:off x="274320" y="3703320"/>
            <a:ext cx="4251960" cy="1234440"/>
          </a:xfrm>
          <a:prstGeom prst="rect">
            <a:avLst/>
          </a:prstGeom>
          <a:solidFill>
            <a:srgbClr val="21262D"/>
          </a:solidFill>
          <a:ln w="12700">
            <a:solidFill>
              <a:srgbClr val="FFD700">
                <a:alpha val="35000"/>
              </a:srgbClr>
            </a:solidFill>
            <a:prstDash val="solid"/>
          </a:ln>
          <a:effectLst>
            <a:outerShdw sx="100000" sy="100000" kx="0" ky="0" algn="bl" rotWithShape="0" blurRad="101600" dist="38100" dir="8100000">
              <a:srgbClr val="000000">
                <a:alpha val="30000"/>
              </a:srgbClr>
            </a:outerShdw>
          </a:effectLst>
        </p:spPr>
      </p:sp>
      <p:sp>
        <p:nvSpPr>
          <p:cNvPr id="29" name="Shape 23"/>
          <p:cNvSpPr/>
          <p:nvPr/>
        </p:nvSpPr>
        <p:spPr>
          <a:xfrm>
            <a:off x="274320" y="3703320"/>
            <a:ext cx="731520" cy="347472"/>
          </a:xfrm>
          <a:prstGeom prst="rect">
            <a:avLst/>
          </a:prstGeom>
          <a:solidFill>
            <a:srgbClr val="FFD700">
              <a:alpha val="30000"/>
            </a:srgbClr>
          </a:solidFill>
          <a:ln w="12700">
            <a:solidFill>
              <a:srgbClr val="FFD700">
                <a:alpha val="30000"/>
              </a:srgbClr>
            </a:solidFill>
            <a:prstDash val="solid"/>
          </a:ln>
        </p:spPr>
      </p:sp>
      <p:sp>
        <p:nvSpPr>
          <p:cNvPr id="30" name="Text 24"/>
          <p:cNvSpPr/>
          <p:nvPr/>
        </p:nvSpPr>
        <p:spPr>
          <a:xfrm>
            <a:off x="274320" y="3703320"/>
            <a:ext cx="731520" cy="347472"/>
          </a:xfrm>
          <a:prstGeom prst="rect">
            <a:avLst/>
          </a:prstGeom>
          <a:noFill/>
          <a:ln/>
        </p:spPr>
        <p:txBody>
          <a:bodyPr wrap="square" rtlCol="0" anchor="ctr"/>
          <a:lstStyle/>
          <a:p>
            <a:pPr algn="ctr" indent="0" marL="0">
              <a:buNone/>
            </a:pPr>
            <a:r>
              <a:rPr lang="en-US" sz="900" b="1" dirty="0">
                <a:solidFill>
                  <a:srgbClr val="FFD700"/>
                </a:solidFill>
              </a:rPr>
              <a:t>Phase 5</a:t>
            </a:r>
            <a:endParaRPr lang="en-US" sz="900" dirty="0"/>
          </a:p>
        </p:txBody>
      </p:sp>
      <p:pic>
        <p:nvPicPr>
          <p:cNvPr id="31" name="Image 4" descr="preencoded.png">    </p:cNvPr>
          <p:cNvPicPr>
            <a:picLocks noChangeAspect="1"/>
          </p:cNvPicPr>
          <p:nvPr/>
        </p:nvPicPr>
        <p:blipFill>
          <a:blip r:embed="rId5"/>
          <a:stretch>
            <a:fillRect/>
          </a:stretch>
        </p:blipFill>
        <p:spPr>
          <a:xfrm>
            <a:off x="411480" y="4114800"/>
            <a:ext cx="411480" cy="411480"/>
          </a:xfrm>
          <a:prstGeom prst="rect">
            <a:avLst/>
          </a:prstGeom>
        </p:spPr>
      </p:pic>
      <p:sp>
        <p:nvSpPr>
          <p:cNvPr id="32" name="Text 25"/>
          <p:cNvSpPr/>
          <p:nvPr/>
        </p:nvSpPr>
        <p:spPr>
          <a:xfrm>
            <a:off x="932688" y="4087368"/>
            <a:ext cx="3429000" cy="347472"/>
          </a:xfrm>
          <a:prstGeom prst="rect">
            <a:avLst/>
          </a:prstGeom>
          <a:noFill/>
          <a:ln/>
        </p:spPr>
        <p:txBody>
          <a:bodyPr wrap="square" rtlCol="0" anchor="ctr"/>
          <a:lstStyle/>
          <a:p>
            <a:pPr indent="0" marL="0">
              <a:buNone/>
            </a:pPr>
            <a:r>
              <a:rPr lang="en-US" sz="1400" b="1" dirty="0">
                <a:solidFill>
                  <a:srgbClr val="FFFFFF"/>
                </a:solidFill>
              </a:rPr>
              <a:t>Cover Letter Generator</a:t>
            </a:r>
            <a:endParaRPr lang="en-US" sz="1400" dirty="0"/>
          </a:p>
        </p:txBody>
      </p:sp>
      <p:sp>
        <p:nvSpPr>
          <p:cNvPr id="33" name="Text 26"/>
          <p:cNvSpPr/>
          <p:nvPr/>
        </p:nvSpPr>
        <p:spPr>
          <a:xfrm>
            <a:off x="932688" y="4453128"/>
            <a:ext cx="3429000" cy="384048"/>
          </a:xfrm>
          <a:prstGeom prst="rect">
            <a:avLst/>
          </a:prstGeom>
          <a:noFill/>
          <a:ln/>
        </p:spPr>
        <p:txBody>
          <a:bodyPr wrap="square" rtlCol="0" anchor="ctr"/>
          <a:lstStyle/>
          <a:p>
            <a:pPr indent="0" marL="0">
              <a:buNone/>
            </a:pPr>
            <a:r>
              <a:rPr lang="en-US" sz="1100" dirty="0">
                <a:solidFill>
                  <a:srgbClr val="C9D1D9"/>
                </a:solidFill>
              </a:rPr>
              <a:t>Claude AI drafts tailored cover letters for each matched job automatically</a:t>
            </a:r>
            <a:endParaRPr lang="en-US" sz="1100" dirty="0"/>
          </a:p>
        </p:txBody>
      </p:sp>
      <p:sp>
        <p:nvSpPr>
          <p:cNvPr id="34" name="Shape 27"/>
          <p:cNvSpPr/>
          <p:nvPr/>
        </p:nvSpPr>
        <p:spPr>
          <a:xfrm>
            <a:off x="4709160" y="3703320"/>
            <a:ext cx="4251960" cy="1234440"/>
          </a:xfrm>
          <a:prstGeom prst="rect">
            <a:avLst/>
          </a:prstGeom>
          <a:solidFill>
            <a:srgbClr val="21262D"/>
          </a:solidFill>
          <a:ln w="12700">
            <a:solidFill>
              <a:srgbClr val="FF7B7B">
                <a:alpha val="35000"/>
              </a:srgbClr>
            </a:solidFill>
            <a:prstDash val="solid"/>
          </a:ln>
          <a:effectLst>
            <a:outerShdw sx="100000" sy="100000" kx="0" ky="0" algn="bl" rotWithShape="0" blurRad="101600" dist="38100" dir="8100000">
              <a:srgbClr val="000000">
                <a:alpha val="30000"/>
              </a:srgbClr>
            </a:outerShdw>
          </a:effectLst>
        </p:spPr>
      </p:sp>
      <p:sp>
        <p:nvSpPr>
          <p:cNvPr id="35" name="Shape 28"/>
          <p:cNvSpPr/>
          <p:nvPr/>
        </p:nvSpPr>
        <p:spPr>
          <a:xfrm>
            <a:off x="4709160" y="3703320"/>
            <a:ext cx="731520" cy="347472"/>
          </a:xfrm>
          <a:prstGeom prst="rect">
            <a:avLst/>
          </a:prstGeom>
          <a:solidFill>
            <a:srgbClr val="FF7B7B">
              <a:alpha val="30000"/>
            </a:srgbClr>
          </a:solidFill>
          <a:ln w="12700">
            <a:solidFill>
              <a:srgbClr val="FF7B7B">
                <a:alpha val="30000"/>
              </a:srgbClr>
            </a:solidFill>
            <a:prstDash val="solid"/>
          </a:ln>
        </p:spPr>
      </p:sp>
      <p:sp>
        <p:nvSpPr>
          <p:cNvPr id="36" name="Text 29"/>
          <p:cNvSpPr/>
          <p:nvPr/>
        </p:nvSpPr>
        <p:spPr>
          <a:xfrm>
            <a:off x="4709160" y="3703320"/>
            <a:ext cx="731520" cy="347472"/>
          </a:xfrm>
          <a:prstGeom prst="rect">
            <a:avLst/>
          </a:prstGeom>
          <a:noFill/>
          <a:ln/>
        </p:spPr>
        <p:txBody>
          <a:bodyPr wrap="square" rtlCol="0" anchor="ctr"/>
          <a:lstStyle/>
          <a:p>
            <a:pPr algn="ctr" indent="0" marL="0">
              <a:buNone/>
            </a:pPr>
            <a:r>
              <a:rPr lang="en-US" sz="900" b="1" dirty="0">
                <a:solidFill>
                  <a:srgbClr val="FF7B7B"/>
                </a:solidFill>
              </a:rPr>
              <a:t>Phase 6</a:t>
            </a:r>
            <a:endParaRPr lang="en-US" sz="900" dirty="0"/>
          </a:p>
        </p:txBody>
      </p:sp>
      <p:pic>
        <p:nvPicPr>
          <p:cNvPr id="37" name="Image 5" descr="preencoded.png">    </p:cNvPr>
          <p:cNvPicPr>
            <a:picLocks noChangeAspect="1"/>
          </p:cNvPicPr>
          <p:nvPr/>
        </p:nvPicPr>
        <p:blipFill>
          <a:blip r:embed="rId6"/>
          <a:stretch>
            <a:fillRect/>
          </a:stretch>
        </p:blipFill>
        <p:spPr>
          <a:xfrm>
            <a:off x="4846320" y="4114800"/>
            <a:ext cx="411480" cy="411480"/>
          </a:xfrm>
          <a:prstGeom prst="rect">
            <a:avLst/>
          </a:prstGeom>
        </p:spPr>
      </p:pic>
      <p:sp>
        <p:nvSpPr>
          <p:cNvPr id="38" name="Text 30"/>
          <p:cNvSpPr/>
          <p:nvPr/>
        </p:nvSpPr>
        <p:spPr>
          <a:xfrm>
            <a:off x="5367528" y="4087368"/>
            <a:ext cx="3429000" cy="347472"/>
          </a:xfrm>
          <a:prstGeom prst="rect">
            <a:avLst/>
          </a:prstGeom>
          <a:noFill/>
          <a:ln/>
        </p:spPr>
        <p:txBody>
          <a:bodyPr wrap="square" rtlCol="0" anchor="ctr"/>
          <a:lstStyle/>
          <a:p>
            <a:pPr indent="0" marL="0">
              <a:buNone/>
            </a:pPr>
            <a:r>
              <a:rPr lang="en-US" sz="1400" b="1" dirty="0">
                <a:solidFill>
                  <a:srgbClr val="FFFFFF"/>
                </a:solidFill>
              </a:rPr>
              <a:t>Salary Intelligence</a:t>
            </a:r>
            <a:endParaRPr lang="en-US" sz="1400" dirty="0"/>
          </a:p>
        </p:txBody>
      </p:sp>
      <p:sp>
        <p:nvSpPr>
          <p:cNvPr id="39" name="Text 31"/>
          <p:cNvSpPr/>
          <p:nvPr/>
        </p:nvSpPr>
        <p:spPr>
          <a:xfrm>
            <a:off x="5367528" y="4453128"/>
            <a:ext cx="3429000" cy="384048"/>
          </a:xfrm>
          <a:prstGeom prst="rect">
            <a:avLst/>
          </a:prstGeom>
          <a:noFill/>
          <a:ln/>
        </p:spPr>
        <p:txBody>
          <a:bodyPr wrap="square" rtlCol="0" anchor="ctr"/>
          <a:lstStyle/>
          <a:p>
            <a:pPr indent="0" marL="0">
              <a:buNone/>
            </a:pPr>
            <a:r>
              <a:rPr lang="en-US" sz="1100" dirty="0">
                <a:solidFill>
                  <a:srgbClr val="C9D1D9"/>
                </a:solidFill>
              </a:rPr>
              <a:t>Integrate compensation data to surface market-rate insights per role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sp>
      <p:sp>
        <p:nvSpPr>
          <p:cNvPr id="3" name="Shape 1"/>
          <p:cNvSpPr/>
          <p:nvPr/>
        </p:nvSpPr>
        <p:spPr>
          <a:xfrm>
            <a:off x="-914400" y="914400"/>
            <a:ext cx="4572000" cy="4572000"/>
          </a:xfrm>
          <a:prstGeom prst="ellipse">
            <a:avLst/>
          </a:prstGeom>
          <a:solidFill>
            <a:srgbClr val="58A6FF">
              <a:alpha val="7000"/>
            </a:srgbClr>
          </a:solidFill>
          <a:ln w="12700">
            <a:solidFill>
              <a:srgbClr val="58A6FF">
                <a:alpha val="12000"/>
              </a:srgbClr>
            </a:solidFill>
            <a:prstDash val="solid"/>
          </a:ln>
        </p:spPr>
      </p:sp>
      <p:sp>
        <p:nvSpPr>
          <p:cNvPr id="4" name="Shape 2"/>
          <p:cNvSpPr/>
          <p:nvPr/>
        </p:nvSpPr>
        <p:spPr>
          <a:xfrm>
            <a:off x="6400800" y="0"/>
            <a:ext cx="3657600" cy="3657600"/>
          </a:xfrm>
          <a:prstGeom prst="ellipse">
            <a:avLst/>
          </a:prstGeom>
          <a:solidFill>
            <a:srgbClr val="D2A8FF">
              <a:alpha val="7000"/>
            </a:srgbClr>
          </a:solidFill>
          <a:ln w="12700">
            <a:solidFill>
              <a:srgbClr val="D2A8FF">
                <a:alpha val="12000"/>
              </a:srgbClr>
            </a:solidFill>
            <a:prstDash val="solid"/>
          </a:ln>
        </p:spPr>
      </p:sp>
      <p:sp>
        <p:nvSpPr>
          <p:cNvPr id="5" name="Text 3"/>
          <p:cNvSpPr/>
          <p:nvPr/>
        </p:nvSpPr>
        <p:spPr>
          <a:xfrm>
            <a:off x="457200" y="274320"/>
            <a:ext cx="8229600" cy="502920"/>
          </a:xfrm>
          <a:prstGeom prst="rect">
            <a:avLst/>
          </a:prstGeom>
          <a:noFill/>
          <a:ln/>
        </p:spPr>
        <p:txBody>
          <a:bodyPr wrap="square" rtlCol="0" anchor="ctr"/>
          <a:lstStyle/>
          <a:p>
            <a:pPr indent="0" marL="0">
              <a:buNone/>
            </a:pPr>
            <a:r>
              <a:rPr lang="en-US" sz="3000" b="1" dirty="0">
                <a:solidFill>
                  <a:srgbClr val="FFFFFF"/>
                </a:solidFill>
              </a:rPr>
              <a:t>Conclusion</a:t>
            </a:r>
            <a:endParaRPr lang="en-US" sz="3000" dirty="0"/>
          </a:p>
        </p:txBody>
      </p:sp>
      <p:sp>
        <p:nvSpPr>
          <p:cNvPr id="6" name="Shape 4"/>
          <p:cNvSpPr/>
          <p:nvPr/>
        </p:nvSpPr>
        <p:spPr>
          <a:xfrm>
            <a:off x="365760" y="914400"/>
            <a:ext cx="8412480" cy="1280160"/>
          </a:xfrm>
          <a:prstGeom prst="rect">
            <a:avLst/>
          </a:prstGeom>
          <a:solidFill>
            <a:srgbClr val="21262D"/>
          </a:solidFill>
          <a:ln w="12700">
            <a:solidFill>
              <a:srgbClr val="58A6FF">
                <a:alpha val="40000"/>
              </a:srgbClr>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548640" y="960120"/>
            <a:ext cx="8046720" cy="1188720"/>
          </a:xfrm>
          <a:prstGeom prst="rect">
            <a:avLst/>
          </a:prstGeom>
          <a:noFill/>
          <a:ln/>
        </p:spPr>
        <p:txBody>
          <a:bodyPr wrap="square" rtlCol="0" anchor="ctr"/>
          <a:lstStyle/>
          <a:p>
            <a:pPr indent="0" marL="0">
              <a:buNone/>
            </a:pPr>
            <a:r>
              <a:rPr lang="en-US" sz="1500" i="1" dirty="0">
                <a:solidFill>
                  <a:srgbClr val="C9D1D9"/>
                </a:solidFill>
              </a:rPr>
              <a:t>This project demonstrates how AI and web automation can meaningfully reduce the friction of job searching — turning a multi-hour manual process into an intelligent, on-demand workflow.</a:t>
            </a:r>
            <a:endParaRPr lang="en-US" sz="1500" dirty="0"/>
          </a:p>
        </p:txBody>
      </p:sp>
      <p:sp>
        <p:nvSpPr>
          <p:cNvPr id="8" name="Shape 6"/>
          <p:cNvSpPr/>
          <p:nvPr/>
        </p:nvSpPr>
        <p:spPr>
          <a:xfrm>
            <a:off x="365760" y="2377440"/>
            <a:ext cx="8412480" cy="658368"/>
          </a:xfrm>
          <a:prstGeom prst="rect">
            <a:avLst/>
          </a:prstGeom>
          <a:solidFill>
            <a:srgbClr val="1C2128"/>
          </a:solidFill>
          <a:ln w="12700">
            <a:solidFill>
              <a:srgbClr val="3FB950">
                <a:alpha val="20000"/>
              </a:srgbClr>
            </a:solidFill>
            <a:prstDash val="solid"/>
          </a:ln>
          <a:effectLst>
            <a:outerShdw sx="100000" sy="100000" kx="0" ky="0" algn="bl" rotWithShape="0" blurRad="101600" dist="38100" dir="8100000">
              <a:srgbClr val="000000">
                <a:alpha val="30000"/>
              </a:srgbClr>
            </a:outerShdw>
          </a:effectLst>
        </p:spPr>
      </p:sp>
      <p:pic>
        <p:nvPicPr>
          <p:cNvPr id="9" name="Image 0" descr="preencoded.png">    </p:cNvPr>
          <p:cNvPicPr>
            <a:picLocks noChangeAspect="1"/>
          </p:cNvPicPr>
          <p:nvPr/>
        </p:nvPicPr>
        <p:blipFill>
          <a:blip r:embed="rId1"/>
          <a:stretch>
            <a:fillRect/>
          </a:stretch>
        </p:blipFill>
        <p:spPr>
          <a:xfrm>
            <a:off x="502920" y="2441448"/>
            <a:ext cx="384048" cy="384048"/>
          </a:xfrm>
          <a:prstGeom prst="rect">
            <a:avLst/>
          </a:prstGeom>
        </p:spPr>
      </p:pic>
      <p:sp>
        <p:nvSpPr>
          <p:cNvPr id="10" name="Text 7"/>
          <p:cNvSpPr/>
          <p:nvPr/>
        </p:nvSpPr>
        <p:spPr>
          <a:xfrm>
            <a:off x="1005840" y="2377440"/>
            <a:ext cx="7680960" cy="658368"/>
          </a:xfrm>
          <a:prstGeom prst="rect">
            <a:avLst/>
          </a:prstGeom>
          <a:noFill/>
          <a:ln/>
        </p:spPr>
        <p:txBody>
          <a:bodyPr wrap="square" rtlCol="0" anchor="ctr"/>
          <a:lstStyle/>
          <a:p>
            <a:pPr indent="0" marL="0">
              <a:buNone/>
            </a:pPr>
            <a:r>
              <a:rPr lang="en-US" sz="1300" dirty="0">
                <a:solidFill>
                  <a:srgbClr val="C9D1D9"/>
                </a:solidFill>
              </a:rPr>
              <a:t>Proved that Claude AI + Apify can power real-world job automation at minimal cost</a:t>
            </a:r>
            <a:endParaRPr lang="en-US" sz="1300" dirty="0"/>
          </a:p>
        </p:txBody>
      </p:sp>
      <p:sp>
        <p:nvSpPr>
          <p:cNvPr id="11" name="Shape 8"/>
          <p:cNvSpPr/>
          <p:nvPr/>
        </p:nvSpPr>
        <p:spPr>
          <a:xfrm>
            <a:off x="365760" y="3154680"/>
            <a:ext cx="8412480" cy="658368"/>
          </a:xfrm>
          <a:prstGeom prst="rect">
            <a:avLst/>
          </a:prstGeom>
          <a:solidFill>
            <a:srgbClr val="1C2128"/>
          </a:solidFill>
          <a:ln w="12700">
            <a:solidFill>
              <a:srgbClr val="58A6FF">
                <a:alpha val="20000"/>
              </a:srgbClr>
            </a:solidFill>
            <a:prstDash val="solid"/>
          </a:ln>
          <a:effectLst>
            <a:outerShdw sx="100000" sy="100000" kx="0" ky="0" algn="bl" rotWithShape="0" blurRad="101600" dist="38100" dir="8100000">
              <a:srgbClr val="000000">
                <a:alpha val="30000"/>
              </a:srgbClr>
            </a:outerShdw>
          </a:effectLst>
        </p:spPr>
      </p:sp>
      <p:pic>
        <p:nvPicPr>
          <p:cNvPr id="12" name="Image 1" descr="preencoded.png">    </p:cNvPr>
          <p:cNvPicPr>
            <a:picLocks noChangeAspect="1"/>
          </p:cNvPicPr>
          <p:nvPr/>
        </p:nvPicPr>
        <p:blipFill>
          <a:blip r:embed="rId2"/>
          <a:stretch>
            <a:fillRect/>
          </a:stretch>
        </p:blipFill>
        <p:spPr>
          <a:xfrm>
            <a:off x="502920" y="3218688"/>
            <a:ext cx="384048" cy="384048"/>
          </a:xfrm>
          <a:prstGeom prst="rect">
            <a:avLst/>
          </a:prstGeom>
        </p:spPr>
      </p:pic>
      <p:sp>
        <p:nvSpPr>
          <p:cNvPr id="13" name="Text 9"/>
          <p:cNvSpPr/>
          <p:nvPr/>
        </p:nvSpPr>
        <p:spPr>
          <a:xfrm>
            <a:off x="1005840" y="3154680"/>
            <a:ext cx="7680960" cy="658368"/>
          </a:xfrm>
          <a:prstGeom prst="rect">
            <a:avLst/>
          </a:prstGeom>
          <a:noFill/>
          <a:ln/>
        </p:spPr>
        <p:txBody>
          <a:bodyPr wrap="square" rtlCol="0" anchor="ctr"/>
          <a:lstStyle/>
          <a:p>
            <a:pPr indent="0" marL="0">
              <a:buNone/>
            </a:pPr>
            <a:r>
              <a:rPr lang="en-US" sz="1300" dirty="0">
                <a:solidFill>
                  <a:srgbClr val="C9D1D9"/>
                </a:solidFill>
              </a:rPr>
              <a:t>Demonstrates prompt engineering as a core skill for building practical AI workflows</a:t>
            </a:r>
            <a:endParaRPr lang="en-US" sz="1300" dirty="0"/>
          </a:p>
        </p:txBody>
      </p:sp>
      <p:sp>
        <p:nvSpPr>
          <p:cNvPr id="14" name="Shape 10"/>
          <p:cNvSpPr/>
          <p:nvPr/>
        </p:nvSpPr>
        <p:spPr>
          <a:xfrm>
            <a:off x="365760" y="3931920"/>
            <a:ext cx="8412480" cy="658368"/>
          </a:xfrm>
          <a:prstGeom prst="rect">
            <a:avLst/>
          </a:prstGeom>
          <a:solidFill>
            <a:srgbClr val="1C2128"/>
          </a:solidFill>
          <a:ln w="12700">
            <a:solidFill>
              <a:srgbClr val="D2A8FF">
                <a:alpha val="20000"/>
              </a:srgbClr>
            </a:solidFill>
            <a:prstDash val="solid"/>
          </a:ln>
          <a:effectLst>
            <a:outerShdw sx="100000" sy="100000" kx="0" ky="0" algn="bl" rotWithShape="0" blurRad="101600" dist="38100" dir="8100000">
              <a:srgbClr val="000000">
                <a:alpha val="30000"/>
              </a:srgbClr>
            </a:outerShdw>
          </a:effectLst>
        </p:spPr>
      </p:sp>
      <p:pic>
        <p:nvPicPr>
          <p:cNvPr id="15" name="Image 2" descr="preencoded.png">    </p:cNvPr>
          <p:cNvPicPr>
            <a:picLocks noChangeAspect="1"/>
          </p:cNvPicPr>
          <p:nvPr/>
        </p:nvPicPr>
        <p:blipFill>
          <a:blip r:embed="rId3"/>
          <a:stretch>
            <a:fillRect/>
          </a:stretch>
        </p:blipFill>
        <p:spPr>
          <a:xfrm>
            <a:off x="502920" y="3995928"/>
            <a:ext cx="384048" cy="384048"/>
          </a:xfrm>
          <a:prstGeom prst="rect">
            <a:avLst/>
          </a:prstGeom>
        </p:spPr>
      </p:pic>
      <p:sp>
        <p:nvSpPr>
          <p:cNvPr id="16" name="Text 11"/>
          <p:cNvSpPr/>
          <p:nvPr/>
        </p:nvSpPr>
        <p:spPr>
          <a:xfrm>
            <a:off x="1005840" y="3931920"/>
            <a:ext cx="7680960" cy="658368"/>
          </a:xfrm>
          <a:prstGeom prst="rect">
            <a:avLst/>
          </a:prstGeom>
          <a:noFill/>
          <a:ln/>
        </p:spPr>
        <p:txBody>
          <a:bodyPr wrap="square" rtlCol="0" anchor="ctr"/>
          <a:lstStyle/>
          <a:p>
            <a:pPr indent="0" marL="0">
              <a:buNone/>
            </a:pPr>
            <a:r>
              <a:rPr lang="en-US" sz="1300" dirty="0">
                <a:solidFill>
                  <a:srgbClr val="C9D1D9"/>
                </a:solidFill>
              </a:rPr>
              <a:t>Scalable foundation ready for additional features, users, and job categories</a:t>
            </a:r>
            <a:endParaRPr lang="en-US" sz="1300" dirty="0"/>
          </a:p>
        </p:txBody>
      </p:sp>
      <p:sp>
        <p:nvSpPr>
          <p:cNvPr id="17" name="Shape 12"/>
          <p:cNvSpPr/>
          <p:nvPr/>
        </p:nvSpPr>
        <p:spPr>
          <a:xfrm>
            <a:off x="0" y="4663440"/>
            <a:ext cx="9144000" cy="480060"/>
          </a:xfrm>
          <a:prstGeom prst="rect">
            <a:avLst/>
          </a:prstGeom>
          <a:solidFill>
            <a:srgbClr val="21262D"/>
          </a:solidFill>
          <a:ln w="12700">
            <a:solidFill>
              <a:srgbClr val="21262D"/>
            </a:solidFill>
            <a:prstDash val="solid"/>
          </a:ln>
        </p:spPr>
      </p:sp>
      <p:sp>
        <p:nvSpPr>
          <p:cNvPr id="18" name="Text 13"/>
          <p:cNvSpPr/>
          <p:nvPr/>
        </p:nvSpPr>
        <p:spPr>
          <a:xfrm>
            <a:off x="457200" y="4663440"/>
            <a:ext cx="8229600" cy="480060"/>
          </a:xfrm>
          <a:prstGeom prst="rect">
            <a:avLst/>
          </a:prstGeom>
          <a:noFill/>
          <a:ln/>
        </p:spPr>
        <p:txBody>
          <a:bodyPr wrap="square" rtlCol="0" anchor="ctr"/>
          <a:lstStyle/>
          <a:p>
            <a:pPr algn="ctr" indent="0" marL="0">
              <a:buNone/>
            </a:pPr>
            <a:r>
              <a:rPr lang="en-US" sz="1100" dirty="0">
                <a:solidFill>
                  <a:srgbClr val="8B949E"/>
                </a:solidFill>
              </a:rPr>
              <a:t>Built with  Claude AI  ·  Apify  ·  Prompt Engineering  |  Open to collaboration &amp; feedback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58A6FF"/>
          </a:solidFill>
          <a:ln w="12700">
            <a:solidFill>
              <a:srgbClr val="58A6FF"/>
            </a:solidFill>
            <a:prstDash val="solid"/>
          </a:ln>
        </p:spPr>
      </p:sp>
      <p:sp>
        <p:nvSpPr>
          <p:cNvPr id="3" name="Shape 1"/>
          <p:cNvSpPr/>
          <p:nvPr/>
        </p:nvSpPr>
        <p:spPr>
          <a:xfrm>
            <a:off x="0" y="0"/>
            <a:ext cx="9144000" cy="54864"/>
          </a:xfrm>
          <a:prstGeom prst="rect">
            <a:avLst/>
          </a:prstGeom>
          <a:solidFill>
            <a:srgbClr val="58A6FF"/>
          </a:solidFill>
          <a:ln w="12700">
            <a:solidFill>
              <a:srgbClr val="58A6FF"/>
            </a:solidFill>
            <a:prstDash val="solid"/>
          </a:ln>
        </p:spPr>
      </p:sp>
      <p:sp>
        <p:nvSpPr>
          <p:cNvPr id="4" name="Shape 2"/>
          <p:cNvSpPr/>
          <p:nvPr/>
        </p:nvSpPr>
        <p:spPr>
          <a:xfrm>
            <a:off x="2286000" y="457200"/>
            <a:ext cx="4572000" cy="4572000"/>
          </a:xfrm>
          <a:prstGeom prst="ellipse">
            <a:avLst/>
          </a:prstGeom>
          <a:solidFill>
            <a:srgbClr val="58A6FF">
              <a:alpha val="6000"/>
            </a:srgbClr>
          </a:solidFill>
          <a:ln w="12700">
            <a:solidFill>
              <a:srgbClr val="58A6FF">
                <a:alpha val="10000"/>
              </a:srgbClr>
            </a:solidFill>
            <a:prstDash val="solid"/>
          </a:ln>
        </p:spPr>
      </p:sp>
      <p:pic>
        <p:nvPicPr>
          <p:cNvPr id="5" name="Image 0" descr="preencoded.png">    </p:cNvPr>
          <p:cNvPicPr>
            <a:picLocks noChangeAspect="1"/>
          </p:cNvPicPr>
          <p:nvPr/>
        </p:nvPicPr>
        <p:blipFill>
          <a:blip r:embed="rId1"/>
          <a:stretch>
            <a:fillRect/>
          </a:stretch>
        </p:blipFill>
        <p:spPr>
          <a:xfrm>
            <a:off x="3886200" y="548640"/>
            <a:ext cx="1371600" cy="1371600"/>
          </a:xfrm>
          <a:prstGeom prst="rect">
            <a:avLst/>
          </a:prstGeom>
        </p:spPr>
      </p:pic>
      <p:sp>
        <p:nvSpPr>
          <p:cNvPr id="6" name="Text 3"/>
          <p:cNvSpPr/>
          <p:nvPr/>
        </p:nvSpPr>
        <p:spPr>
          <a:xfrm>
            <a:off x="457200" y="1920240"/>
            <a:ext cx="8229600" cy="822960"/>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Questions?</a:t>
            </a:r>
            <a:endParaRPr lang="en-US" sz="5200" dirty="0"/>
          </a:p>
        </p:txBody>
      </p:sp>
      <p:sp>
        <p:nvSpPr>
          <p:cNvPr id="7" name="Text 4"/>
          <p:cNvSpPr/>
          <p:nvPr/>
        </p:nvSpPr>
        <p:spPr>
          <a:xfrm>
            <a:off x="457200" y="2697480"/>
            <a:ext cx="8229600" cy="457200"/>
          </a:xfrm>
          <a:prstGeom prst="rect">
            <a:avLst/>
          </a:prstGeom>
          <a:noFill/>
          <a:ln/>
        </p:spPr>
        <p:txBody>
          <a:bodyPr wrap="square" rtlCol="0" anchor="ctr"/>
          <a:lstStyle/>
          <a:p>
            <a:pPr algn="ctr" indent="0" marL="0">
              <a:buNone/>
            </a:pPr>
            <a:r>
              <a:rPr lang="en-US" sz="2200" i="1" dirty="0">
                <a:solidFill>
                  <a:srgbClr val="58A6FF"/>
                </a:solidFill>
              </a:rPr>
              <a:t>Let's Discuss</a:t>
            </a:r>
            <a:endParaRPr lang="en-US" sz="2200" dirty="0"/>
          </a:p>
        </p:txBody>
      </p:sp>
      <p:sp>
        <p:nvSpPr>
          <p:cNvPr id="8" name="Text 5"/>
          <p:cNvSpPr/>
          <p:nvPr/>
        </p:nvSpPr>
        <p:spPr>
          <a:xfrm>
            <a:off x="457200" y="3246120"/>
            <a:ext cx="8229600" cy="365760"/>
          </a:xfrm>
          <a:prstGeom prst="rect">
            <a:avLst/>
          </a:prstGeom>
          <a:noFill/>
          <a:ln/>
        </p:spPr>
        <p:txBody>
          <a:bodyPr wrap="square" rtlCol="0" anchor="ctr"/>
          <a:lstStyle/>
          <a:p>
            <a:pPr algn="ctr" indent="0" marL="0">
              <a:buNone/>
            </a:pPr>
            <a:r>
              <a:rPr lang="en-US" sz="1300" dirty="0">
                <a:solidFill>
                  <a:srgbClr val="8B949E"/>
                </a:solidFill>
              </a:rPr>
              <a:t>AI-Powered Job Matching System  |  Claude AI + Apify</a:t>
            </a:r>
            <a:endParaRPr lang="en-US" sz="1300" dirty="0"/>
          </a:p>
        </p:txBody>
      </p:sp>
      <p:sp>
        <p:nvSpPr>
          <p:cNvPr id="9" name="Shape 6"/>
          <p:cNvSpPr/>
          <p:nvPr/>
        </p:nvSpPr>
        <p:spPr>
          <a:xfrm>
            <a:off x="548640" y="4023360"/>
            <a:ext cx="1463040" cy="384048"/>
          </a:xfrm>
          <a:prstGeom prst="rect">
            <a:avLst/>
          </a:prstGeom>
          <a:solidFill>
            <a:srgbClr val="58A6FF">
              <a:alpha val="18000"/>
            </a:srgbClr>
          </a:solidFill>
          <a:ln w="12700">
            <a:solidFill>
              <a:srgbClr val="58A6FF">
                <a:alpha val="40000"/>
              </a:srgbClr>
            </a:solidFill>
            <a:prstDash val="solid"/>
          </a:ln>
        </p:spPr>
      </p:sp>
      <p:sp>
        <p:nvSpPr>
          <p:cNvPr id="10" name="Text 7"/>
          <p:cNvSpPr/>
          <p:nvPr/>
        </p:nvSpPr>
        <p:spPr>
          <a:xfrm>
            <a:off x="548640" y="4023360"/>
            <a:ext cx="1463040" cy="384048"/>
          </a:xfrm>
          <a:prstGeom prst="rect">
            <a:avLst/>
          </a:prstGeom>
          <a:noFill/>
          <a:ln/>
        </p:spPr>
        <p:txBody>
          <a:bodyPr wrap="square" rtlCol="0" anchor="ctr"/>
          <a:lstStyle/>
          <a:p>
            <a:pPr algn="ctr" indent="0" marL="0">
              <a:buNone/>
            </a:pPr>
            <a:r>
              <a:rPr lang="en-US" sz="1100" dirty="0">
                <a:solidFill>
                  <a:srgbClr val="58A6FF"/>
                </a:solidFill>
              </a:rPr>
              <a:t>Claude AI</a:t>
            </a:r>
            <a:endParaRPr lang="en-US" sz="1100" dirty="0"/>
          </a:p>
        </p:txBody>
      </p:sp>
      <p:sp>
        <p:nvSpPr>
          <p:cNvPr id="11" name="Shape 8"/>
          <p:cNvSpPr/>
          <p:nvPr/>
        </p:nvSpPr>
        <p:spPr>
          <a:xfrm>
            <a:off x="2194560" y="4023360"/>
            <a:ext cx="1463040" cy="384048"/>
          </a:xfrm>
          <a:prstGeom prst="rect">
            <a:avLst/>
          </a:prstGeom>
          <a:solidFill>
            <a:srgbClr val="58A6FF">
              <a:alpha val="18000"/>
            </a:srgbClr>
          </a:solidFill>
          <a:ln w="12700">
            <a:solidFill>
              <a:srgbClr val="58A6FF">
                <a:alpha val="40000"/>
              </a:srgbClr>
            </a:solidFill>
            <a:prstDash val="solid"/>
          </a:ln>
        </p:spPr>
      </p:sp>
      <p:sp>
        <p:nvSpPr>
          <p:cNvPr id="12" name="Text 9"/>
          <p:cNvSpPr/>
          <p:nvPr/>
        </p:nvSpPr>
        <p:spPr>
          <a:xfrm>
            <a:off x="2194560" y="4023360"/>
            <a:ext cx="1463040" cy="384048"/>
          </a:xfrm>
          <a:prstGeom prst="rect">
            <a:avLst/>
          </a:prstGeom>
          <a:noFill/>
          <a:ln/>
        </p:spPr>
        <p:txBody>
          <a:bodyPr wrap="square" rtlCol="0" anchor="ctr"/>
          <a:lstStyle/>
          <a:p>
            <a:pPr algn="ctr" indent="0" marL="0">
              <a:buNone/>
            </a:pPr>
            <a:r>
              <a:rPr lang="en-US" sz="1100" dirty="0">
                <a:solidFill>
                  <a:srgbClr val="58A6FF"/>
                </a:solidFill>
              </a:rPr>
              <a:t>Apify API</a:t>
            </a:r>
            <a:endParaRPr lang="en-US" sz="1100" dirty="0"/>
          </a:p>
        </p:txBody>
      </p:sp>
      <p:sp>
        <p:nvSpPr>
          <p:cNvPr id="13" name="Shape 10"/>
          <p:cNvSpPr/>
          <p:nvPr/>
        </p:nvSpPr>
        <p:spPr>
          <a:xfrm>
            <a:off x="3840480" y="4023360"/>
            <a:ext cx="1463040" cy="384048"/>
          </a:xfrm>
          <a:prstGeom prst="rect">
            <a:avLst/>
          </a:prstGeom>
          <a:solidFill>
            <a:srgbClr val="58A6FF">
              <a:alpha val="18000"/>
            </a:srgbClr>
          </a:solidFill>
          <a:ln w="12700">
            <a:solidFill>
              <a:srgbClr val="58A6FF">
                <a:alpha val="40000"/>
              </a:srgbClr>
            </a:solidFill>
            <a:prstDash val="solid"/>
          </a:ln>
        </p:spPr>
      </p:sp>
      <p:sp>
        <p:nvSpPr>
          <p:cNvPr id="14" name="Text 11"/>
          <p:cNvSpPr/>
          <p:nvPr/>
        </p:nvSpPr>
        <p:spPr>
          <a:xfrm>
            <a:off x="3840480" y="4023360"/>
            <a:ext cx="1463040" cy="384048"/>
          </a:xfrm>
          <a:prstGeom prst="rect">
            <a:avLst/>
          </a:prstGeom>
          <a:noFill/>
          <a:ln/>
        </p:spPr>
        <p:txBody>
          <a:bodyPr wrap="square" rtlCol="0" anchor="ctr"/>
          <a:lstStyle/>
          <a:p>
            <a:pPr algn="ctr" indent="0" marL="0">
              <a:buNone/>
            </a:pPr>
            <a:r>
              <a:rPr lang="en-US" sz="1100" dirty="0">
                <a:solidFill>
                  <a:srgbClr val="58A6FF"/>
                </a:solidFill>
              </a:rPr>
              <a:t>Prompt Engineering</a:t>
            </a:r>
            <a:endParaRPr lang="en-US" sz="1100" dirty="0"/>
          </a:p>
        </p:txBody>
      </p:sp>
      <p:sp>
        <p:nvSpPr>
          <p:cNvPr id="15" name="Shape 12"/>
          <p:cNvSpPr/>
          <p:nvPr/>
        </p:nvSpPr>
        <p:spPr>
          <a:xfrm>
            <a:off x="5486400" y="4023360"/>
            <a:ext cx="1463040" cy="384048"/>
          </a:xfrm>
          <a:prstGeom prst="rect">
            <a:avLst/>
          </a:prstGeom>
          <a:solidFill>
            <a:srgbClr val="58A6FF">
              <a:alpha val="18000"/>
            </a:srgbClr>
          </a:solidFill>
          <a:ln w="12700">
            <a:solidFill>
              <a:srgbClr val="58A6FF">
                <a:alpha val="40000"/>
              </a:srgbClr>
            </a:solidFill>
            <a:prstDash val="solid"/>
          </a:ln>
        </p:spPr>
      </p:sp>
      <p:sp>
        <p:nvSpPr>
          <p:cNvPr id="16" name="Text 13"/>
          <p:cNvSpPr/>
          <p:nvPr/>
        </p:nvSpPr>
        <p:spPr>
          <a:xfrm>
            <a:off x="5486400" y="4023360"/>
            <a:ext cx="1463040" cy="384048"/>
          </a:xfrm>
          <a:prstGeom prst="rect">
            <a:avLst/>
          </a:prstGeom>
          <a:noFill/>
          <a:ln/>
        </p:spPr>
        <p:txBody>
          <a:bodyPr wrap="square" rtlCol="0" anchor="ctr"/>
          <a:lstStyle/>
          <a:p>
            <a:pPr algn="ctr" indent="0" marL="0">
              <a:buNone/>
            </a:pPr>
            <a:r>
              <a:rPr lang="en-US" sz="1100" dirty="0">
                <a:solidFill>
                  <a:srgbClr val="58A6FF"/>
                </a:solidFill>
              </a:rPr>
              <a:t>AI Automation</a:t>
            </a:r>
            <a:endParaRPr lang="en-US" sz="1100" dirty="0"/>
          </a:p>
        </p:txBody>
      </p:sp>
      <p:sp>
        <p:nvSpPr>
          <p:cNvPr id="17" name="Shape 14"/>
          <p:cNvSpPr/>
          <p:nvPr/>
        </p:nvSpPr>
        <p:spPr>
          <a:xfrm>
            <a:off x="7132320" y="4023360"/>
            <a:ext cx="1463040" cy="384048"/>
          </a:xfrm>
          <a:prstGeom prst="rect">
            <a:avLst/>
          </a:prstGeom>
          <a:solidFill>
            <a:srgbClr val="58A6FF">
              <a:alpha val="18000"/>
            </a:srgbClr>
          </a:solidFill>
          <a:ln w="12700">
            <a:solidFill>
              <a:srgbClr val="58A6FF">
                <a:alpha val="40000"/>
              </a:srgbClr>
            </a:solidFill>
            <a:prstDash val="solid"/>
          </a:ln>
        </p:spPr>
      </p:sp>
      <p:sp>
        <p:nvSpPr>
          <p:cNvPr id="18" name="Text 15"/>
          <p:cNvSpPr/>
          <p:nvPr/>
        </p:nvSpPr>
        <p:spPr>
          <a:xfrm>
            <a:off x="7132320" y="4023360"/>
            <a:ext cx="1463040" cy="384048"/>
          </a:xfrm>
          <a:prstGeom prst="rect">
            <a:avLst/>
          </a:prstGeom>
          <a:noFill/>
          <a:ln/>
        </p:spPr>
        <p:txBody>
          <a:bodyPr wrap="square" rtlCol="0" anchor="ctr"/>
          <a:lstStyle/>
          <a:p>
            <a:pPr algn="ctr" indent="0" marL="0">
              <a:buNone/>
            </a:pPr>
            <a:r>
              <a:rPr lang="en-US" sz="1100" dirty="0">
                <a:solidFill>
                  <a:srgbClr val="58A6FF"/>
                </a:solidFill>
              </a:rPr>
              <a:t>Job Search</a:t>
            </a:r>
            <a:endParaRPr lang="en-US" sz="1100" dirty="0"/>
          </a:p>
        </p:txBody>
      </p:sp>
      <p:sp>
        <p:nvSpPr>
          <p:cNvPr id="19" name="Shape 16"/>
          <p:cNvSpPr/>
          <p:nvPr/>
        </p:nvSpPr>
        <p:spPr>
          <a:xfrm>
            <a:off x="0" y="4663440"/>
            <a:ext cx="9144000" cy="480060"/>
          </a:xfrm>
          <a:prstGeom prst="rect">
            <a:avLst/>
          </a:prstGeom>
          <a:solidFill>
            <a:srgbClr val="21262D"/>
          </a:solidFill>
          <a:ln w="12700">
            <a:solidFill>
              <a:srgbClr val="21262D"/>
            </a:solidFill>
            <a:prstDash val="solid"/>
          </a:ln>
        </p:spPr>
      </p:sp>
      <p:sp>
        <p:nvSpPr>
          <p:cNvPr id="20" name="Text 17"/>
          <p:cNvSpPr/>
          <p:nvPr/>
        </p:nvSpPr>
        <p:spPr>
          <a:xfrm>
            <a:off x="457200" y="4663440"/>
            <a:ext cx="8229600" cy="480060"/>
          </a:xfrm>
          <a:prstGeom prst="rect">
            <a:avLst/>
          </a:prstGeom>
          <a:noFill/>
          <a:ln/>
        </p:spPr>
        <p:txBody>
          <a:bodyPr wrap="square" rtlCol="0" anchor="ctr"/>
          <a:lstStyle/>
          <a:p>
            <a:pPr algn="ctr" indent="0" marL="0">
              <a:buNone/>
            </a:pPr>
            <a:r>
              <a:rPr lang="en-US" sz="1300" dirty="0">
                <a:solidFill>
                  <a:srgbClr val="8B949E"/>
                </a:solidFill>
              </a:rPr>
              <a:t>Thank you for your attention!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Job Matching System</dc:title>
  <dc:subject>PptxGenJS Presentation</dc:subject>
  <dc:creator>AI Job Matching Project</dc:creator>
  <cp:lastModifiedBy>AI Job Matching Project</cp:lastModifiedBy>
  <cp:revision>1</cp:revision>
  <dcterms:created xsi:type="dcterms:W3CDTF">2026-03-20T08:58:47Z</dcterms:created>
  <dcterms:modified xsi:type="dcterms:W3CDTF">2026-03-20T08:58:47Z</dcterms:modified>
</cp:coreProperties>
</file>